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0" r:id="rId17"/>
    <p:sldId id="272" r:id="rId18"/>
    <p:sldId id="273" r:id="rId19"/>
    <p:sldId id="274" r:id="rId20"/>
    <p:sldId id="276" r:id="rId21"/>
    <p:sldId id="277" r:id="rId22"/>
    <p:sldId id="278" r:id="rId23"/>
    <p:sldId id="279" r:id="rId24"/>
    <p:sldId id="281" r:id="rId25"/>
    <p:sldId id="280" r:id="rId26"/>
    <p:sldId id="282" r:id="rId27"/>
    <p:sldId id="283" r:id="rId28"/>
    <p:sldId id="284"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oleObject" Target="file:///C:\Users\YUGITH\OneDrive\Desktop\Power%20BI\Sales%20Analytics\NTDS-EDA_Question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YUGITH\OneDrive\Desktop\Power%20BI\Sales%20Analytics\NTDS-EDA_Question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YUGITH\OneDrive\Desktop\Power%20BI\Sales%20Analytics\NTDS-EDA_Question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YUGITH\OneDrive\Desktop\Power%20BI\Sales%20Analytics\NTDS-EDA_Question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YUGITH\OneDrive\Desktop\Power%20BI\Sales%20Analytics\NTDS-EDA_Question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YUGITH\OneDrive\Desktop\Power%20BI\Sales%20Analytics\NTDS-EDA_Questions.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YUGITH\OneDrive\Desktop\Power%20BI\Sales%20Analytics\NTDS-EDA_Questions.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YUGITH\OneDrive\Desktop\Power%20BI\Sales%20Analytics\NTDS-EDA_Questions.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'Question 1'!$J$21</c:f>
              <c:strCache>
                <c:ptCount val="1"/>
                <c:pt idx="0">
                  <c:v>order_count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1'!$I$22:$I$26</c:f>
              <c:strCache>
                <c:ptCount val="5"/>
                <c:pt idx="0">
                  <c:v>SAVEA</c:v>
                </c:pt>
                <c:pt idx="1">
                  <c:v>ERNSH</c:v>
                </c:pt>
                <c:pt idx="2">
                  <c:v>QUICK</c:v>
                </c:pt>
                <c:pt idx="3">
                  <c:v>HUNGO</c:v>
                </c:pt>
                <c:pt idx="4">
                  <c:v>RATTC</c:v>
                </c:pt>
              </c:strCache>
            </c:strRef>
          </c:cat>
          <c:val>
            <c:numRef>
              <c:f>'Question 1'!$J$22:$J$26</c:f>
              <c:numCache>
                <c:formatCode>General</c:formatCode>
                <c:ptCount val="5"/>
                <c:pt idx="0">
                  <c:v>102</c:v>
                </c:pt>
                <c:pt idx="1">
                  <c:v>92</c:v>
                </c:pt>
                <c:pt idx="2">
                  <c:v>81</c:v>
                </c:pt>
                <c:pt idx="3">
                  <c:v>52</c:v>
                </c:pt>
                <c:pt idx="4">
                  <c:v>46</c:v>
                </c:pt>
              </c:numCache>
            </c:numRef>
          </c:val>
          <c:extLst>
            <c:ext xmlns:c16="http://schemas.microsoft.com/office/drawing/2014/chart" uri="{C3380CC4-5D6E-409C-BE32-E72D297353CC}">
              <c16:uniqueId val="{00000000-0B62-4FB9-8EF1-5B4B5C1ED672}"/>
            </c:ext>
          </c:extLst>
        </c:ser>
        <c:dLbls>
          <c:showLegendKey val="0"/>
          <c:showVal val="0"/>
          <c:showCatName val="0"/>
          <c:showSerName val="0"/>
          <c:showPercent val="0"/>
          <c:showBubbleSize val="0"/>
        </c:dLbls>
        <c:gapWidth val="150"/>
        <c:axId val="403406432"/>
        <c:axId val="403404992"/>
      </c:barChart>
      <c:lineChart>
        <c:grouping val="standard"/>
        <c:varyColors val="0"/>
        <c:ser>
          <c:idx val="1"/>
          <c:order val="1"/>
          <c:tx>
            <c:strRef>
              <c:f>'Question 1'!$K$21</c:f>
              <c:strCache>
                <c:ptCount val="1"/>
                <c:pt idx="0">
                  <c:v>total_amount</c:v>
                </c:pt>
              </c:strCache>
            </c:strRef>
          </c:tx>
          <c:spPr>
            <a:ln w="34925" cap="rnd">
              <a:solidFill>
                <a:schemeClr val="accent2"/>
              </a:solidFill>
              <a:round/>
            </a:ln>
            <a:effectLst>
              <a:outerShdw blurRad="57150" dist="19050" dir="5400000" algn="ctr" rotWithShape="0">
                <a:srgbClr val="000000">
                  <a:alpha val="63000"/>
                </a:srgbClr>
              </a:outerShdw>
            </a:effectLst>
          </c:spPr>
          <c:marker>
            <c:symbol val="none"/>
          </c:marker>
          <c:cat>
            <c:strRef>
              <c:f>'Question 1'!$I$22:$I$26</c:f>
              <c:strCache>
                <c:ptCount val="5"/>
                <c:pt idx="0">
                  <c:v>SAVEA</c:v>
                </c:pt>
                <c:pt idx="1">
                  <c:v>ERNSH</c:v>
                </c:pt>
                <c:pt idx="2">
                  <c:v>QUICK</c:v>
                </c:pt>
                <c:pt idx="3">
                  <c:v>HUNGO</c:v>
                </c:pt>
                <c:pt idx="4">
                  <c:v>RATTC</c:v>
                </c:pt>
              </c:strCache>
            </c:strRef>
          </c:cat>
          <c:val>
            <c:numRef>
              <c:f>'Question 1'!$K$22:$K$26</c:f>
              <c:numCache>
                <c:formatCode>General</c:formatCode>
                <c:ptCount val="5"/>
                <c:pt idx="0">
                  <c:v>85023</c:v>
                </c:pt>
                <c:pt idx="1">
                  <c:v>88226.08</c:v>
                </c:pt>
                <c:pt idx="2">
                  <c:v>103971.06</c:v>
                </c:pt>
                <c:pt idx="3">
                  <c:v>48636.959999999999</c:v>
                </c:pt>
                <c:pt idx="4">
                  <c:v>49842.080000000002</c:v>
                </c:pt>
              </c:numCache>
            </c:numRef>
          </c:val>
          <c:smooth val="0"/>
          <c:extLst>
            <c:ext xmlns:c16="http://schemas.microsoft.com/office/drawing/2014/chart" uri="{C3380CC4-5D6E-409C-BE32-E72D297353CC}">
              <c16:uniqueId val="{00000001-0B62-4FB9-8EF1-5B4B5C1ED672}"/>
            </c:ext>
          </c:extLst>
        </c:ser>
        <c:dLbls>
          <c:showLegendKey val="0"/>
          <c:showVal val="0"/>
          <c:showCatName val="0"/>
          <c:showSerName val="0"/>
          <c:showPercent val="0"/>
          <c:showBubbleSize val="0"/>
        </c:dLbls>
        <c:marker val="1"/>
        <c:smooth val="0"/>
        <c:axId val="403406912"/>
        <c:axId val="403405952"/>
      </c:lineChart>
      <c:catAx>
        <c:axId val="403406432"/>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03404992"/>
        <c:crosses val="autoZero"/>
        <c:auto val="1"/>
        <c:lblAlgn val="ctr"/>
        <c:lblOffset val="100"/>
        <c:noMultiLvlLbl val="0"/>
      </c:catAx>
      <c:valAx>
        <c:axId val="403404992"/>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03406432"/>
        <c:crosses val="autoZero"/>
        <c:crossBetween val="between"/>
      </c:valAx>
      <c:valAx>
        <c:axId val="403405952"/>
        <c:scaling>
          <c:orientation val="minMax"/>
        </c:scaling>
        <c:delete val="0"/>
        <c:axPos val="r"/>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403406912"/>
        <c:crosses val="max"/>
        <c:crossBetween val="between"/>
      </c:valAx>
      <c:catAx>
        <c:axId val="403406912"/>
        <c:scaling>
          <c:orientation val="minMax"/>
        </c:scaling>
        <c:delete val="1"/>
        <c:axPos val="b"/>
        <c:numFmt formatCode="General" sourceLinked="1"/>
        <c:majorTickMark val="none"/>
        <c:minorTickMark val="none"/>
        <c:tickLblPos val="nextTo"/>
        <c:crossAx val="403405952"/>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[NTDS-EDA_Questions.xlsx]Question 4!PivotTable4</c:name>
    <c:fmtId val="13"/>
  </c:pivotSource>
  <c:chart>
    <c:autoTitleDeleted val="1"/>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1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1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1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1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1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1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17"/>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18"/>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extLst>
            <c:ext xmlns:c15="http://schemas.microsoft.com/office/drawing/2012/chart" uri="{CE6537A1-D6FC-4f65-9D91-7224C49458BB}"/>
          </c:extLst>
        </c:dLbl>
      </c:pivotFmt>
      <c:pivotFmt>
        <c:idx val="19"/>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2"/>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3"/>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4"/>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5"/>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
        <c:idx val="2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pivotFmt>
    </c:pivotFmts>
    <c:plotArea>
      <c:layout/>
      <c:pieChart>
        <c:varyColors val="1"/>
        <c:ser>
          <c:idx val="0"/>
          <c:order val="0"/>
          <c:tx>
            <c:strRef>
              <c:f>'Question 4'!$I$35</c:f>
              <c:strCache>
                <c:ptCount val="1"/>
                <c:pt idx="0">
                  <c:v>Total</c:v>
                </c:pt>
              </c:strCache>
            </c:strRef>
          </c:tx>
          <c:dPt>
            <c:idx val="0"/>
            <c:bubble3D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1-6C2D-4DC4-99ED-D44035FFE075}"/>
              </c:ext>
            </c:extLst>
          </c:dPt>
          <c:dPt>
            <c:idx val="1"/>
            <c:bubble3D val="0"/>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3-6C2D-4DC4-99ED-D44035FFE075}"/>
              </c:ext>
            </c:extLst>
          </c:dPt>
          <c:dPt>
            <c:idx val="2"/>
            <c:bubble3D val="0"/>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5-6C2D-4DC4-99ED-D44035FFE075}"/>
              </c:ext>
            </c:extLst>
          </c:dPt>
          <c:dPt>
            <c:idx val="3"/>
            <c:bubble3D val="0"/>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7-6C2D-4DC4-99ED-D44035FFE075}"/>
              </c:ext>
            </c:extLst>
          </c:dPt>
          <c:dPt>
            <c:idx val="4"/>
            <c:bubble3D val="0"/>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9-6C2D-4DC4-99ED-D44035FFE075}"/>
              </c:ext>
            </c:extLst>
          </c:dPt>
          <c:dPt>
            <c:idx val="5"/>
            <c:bubble3D val="0"/>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B-6C2D-4DC4-99ED-D44035FFE075}"/>
              </c:ext>
            </c:extLst>
          </c:dPt>
          <c:dPt>
            <c:idx val="6"/>
            <c:bubble3D val="0"/>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D-6C2D-4DC4-99ED-D44035FFE075}"/>
              </c:ext>
            </c:extLst>
          </c:dPt>
          <c:dPt>
            <c:idx val="7"/>
            <c:bubble3D val="0"/>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extLst>
              <c:ext xmlns:c16="http://schemas.microsoft.com/office/drawing/2014/chart" uri="{C3380CC4-5D6E-409C-BE32-E72D297353CC}">
                <c16:uniqueId val="{0000000F-6C2D-4DC4-99ED-D44035FFE075}"/>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strRef>
              <c:f>'Question 4'!$H$36:$H$44</c:f>
              <c:strCache>
                <c:ptCount val="8"/>
                <c:pt idx="0">
                  <c:v>Beverages</c:v>
                </c:pt>
                <c:pt idx="1">
                  <c:v>Condiments</c:v>
                </c:pt>
                <c:pt idx="2">
                  <c:v>Confections</c:v>
                </c:pt>
                <c:pt idx="3">
                  <c:v>Dairy Products</c:v>
                </c:pt>
                <c:pt idx="4">
                  <c:v>Grains/Cereals</c:v>
                </c:pt>
                <c:pt idx="5">
                  <c:v>Meat/Poultry</c:v>
                </c:pt>
                <c:pt idx="6">
                  <c:v>Produce</c:v>
                </c:pt>
                <c:pt idx="7">
                  <c:v>Seafood</c:v>
                </c:pt>
              </c:strCache>
            </c:strRef>
          </c:cat>
          <c:val>
            <c:numRef>
              <c:f>'Question 4'!$I$36:$I$44</c:f>
              <c:numCache>
                <c:formatCode>General</c:formatCode>
                <c:ptCount val="8"/>
                <c:pt idx="0">
                  <c:v>0.21000000000000008</c:v>
                </c:pt>
                <c:pt idx="1">
                  <c:v>0.08</c:v>
                </c:pt>
                <c:pt idx="2">
                  <c:v>0.12999999999999998</c:v>
                </c:pt>
                <c:pt idx="3">
                  <c:v>0.20000000000000004</c:v>
                </c:pt>
                <c:pt idx="4">
                  <c:v>0.08</c:v>
                </c:pt>
                <c:pt idx="5">
                  <c:v>0.13</c:v>
                </c:pt>
                <c:pt idx="6">
                  <c:v>0.08</c:v>
                </c:pt>
                <c:pt idx="7">
                  <c:v>0.08</c:v>
                </c:pt>
              </c:numCache>
            </c:numRef>
          </c:val>
          <c:extLst>
            <c:ext xmlns:c16="http://schemas.microsoft.com/office/drawing/2014/chart" uri="{C3380CC4-5D6E-409C-BE32-E72D297353CC}">
              <c16:uniqueId val="{00000010-6C2D-4DC4-99ED-D44035FFE075}"/>
            </c:ext>
          </c:extLst>
        </c:ser>
        <c:dLbls>
          <c:dLblPos val="bestFit"/>
          <c:showLegendKey val="0"/>
          <c:showVal val="1"/>
          <c:showCatName val="0"/>
          <c:showSerName val="0"/>
          <c:showPercent val="0"/>
          <c:showBubbleSize val="0"/>
          <c:showLeaderLines val="1"/>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'Question 6'!$B$17</c:f>
              <c:strCache>
                <c:ptCount val="1"/>
                <c:pt idx="0">
                  <c:v>Germany</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6'!$C$17</c:f>
              <c:numCache>
                <c:formatCode>General</c:formatCode>
                <c:ptCount val="1"/>
                <c:pt idx="0">
                  <c:v>54.15</c:v>
                </c:pt>
              </c:numCache>
            </c:numRef>
          </c:val>
          <c:extLst>
            <c:ext xmlns:c16="http://schemas.microsoft.com/office/drawing/2014/chart" uri="{C3380CC4-5D6E-409C-BE32-E72D297353CC}">
              <c16:uniqueId val="{00000000-BA2D-4606-9FD4-C40C181EAEEA}"/>
            </c:ext>
          </c:extLst>
        </c:ser>
        <c:ser>
          <c:idx val="1"/>
          <c:order val="1"/>
          <c:tx>
            <c:strRef>
              <c:f>'Question 6'!$B$18</c:f>
              <c:strCache>
                <c:ptCount val="1"/>
                <c:pt idx="0">
                  <c:v>Mexico</c:v>
                </c:pt>
              </c:strCache>
            </c:strRef>
          </c:tx>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6'!$C$18</c:f>
              <c:numCache>
                <c:formatCode>General</c:formatCode>
                <c:ptCount val="1"/>
                <c:pt idx="0">
                  <c:v>98.666700000000006</c:v>
                </c:pt>
              </c:numCache>
            </c:numRef>
          </c:val>
          <c:extLst>
            <c:ext xmlns:c16="http://schemas.microsoft.com/office/drawing/2014/chart" uri="{C3380CC4-5D6E-409C-BE32-E72D297353CC}">
              <c16:uniqueId val="{00000001-BA2D-4606-9FD4-C40C181EAEEA}"/>
            </c:ext>
          </c:extLst>
        </c:ser>
        <c:ser>
          <c:idx val="2"/>
          <c:order val="2"/>
          <c:tx>
            <c:strRef>
              <c:f>'Question 6'!$B$19</c:f>
              <c:strCache>
                <c:ptCount val="1"/>
                <c:pt idx="0">
                  <c:v>UK</c:v>
                </c:pt>
              </c:strCache>
            </c:strRef>
          </c:tx>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6'!$C$19</c:f>
              <c:numCache>
                <c:formatCode>General</c:formatCode>
                <c:ptCount val="1"/>
                <c:pt idx="0">
                  <c:v>71.465100000000007</c:v>
                </c:pt>
              </c:numCache>
            </c:numRef>
          </c:val>
          <c:extLst>
            <c:ext xmlns:c16="http://schemas.microsoft.com/office/drawing/2014/chart" uri="{C3380CC4-5D6E-409C-BE32-E72D297353CC}">
              <c16:uniqueId val="{00000002-BA2D-4606-9FD4-C40C181EAEEA}"/>
            </c:ext>
          </c:extLst>
        </c:ser>
        <c:ser>
          <c:idx val="3"/>
          <c:order val="3"/>
          <c:tx>
            <c:strRef>
              <c:f>'Question 6'!$B$20</c:f>
              <c:strCache>
                <c:ptCount val="1"/>
                <c:pt idx="0">
                  <c:v>Sweden</c:v>
                </c:pt>
              </c:strCache>
            </c:strRef>
          </c:tx>
          <c:spPr>
            <a:gradFill rotWithShape="1">
              <a:gsLst>
                <a:gs pos="0">
                  <a:schemeClr val="accent4">
                    <a:satMod val="103000"/>
                    <a:lumMod val="102000"/>
                    <a:tint val="94000"/>
                  </a:schemeClr>
                </a:gs>
                <a:gs pos="50000">
                  <a:schemeClr val="accent4">
                    <a:satMod val="110000"/>
                    <a:lumMod val="100000"/>
                    <a:shade val="100000"/>
                  </a:schemeClr>
                </a:gs>
                <a:gs pos="100000">
                  <a:schemeClr val="accent4">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6'!$C$20</c:f>
              <c:numCache>
                <c:formatCode>General</c:formatCode>
                <c:ptCount val="1"/>
                <c:pt idx="0">
                  <c:v>35</c:v>
                </c:pt>
              </c:numCache>
            </c:numRef>
          </c:val>
          <c:extLst>
            <c:ext xmlns:c16="http://schemas.microsoft.com/office/drawing/2014/chart" uri="{C3380CC4-5D6E-409C-BE32-E72D297353CC}">
              <c16:uniqueId val="{00000003-BA2D-4606-9FD4-C40C181EAEEA}"/>
            </c:ext>
          </c:extLst>
        </c:ser>
        <c:ser>
          <c:idx val="4"/>
          <c:order val="4"/>
          <c:tx>
            <c:strRef>
              <c:f>'Question 6'!$B$21</c:f>
              <c:strCache>
                <c:ptCount val="1"/>
                <c:pt idx="0">
                  <c:v>France</c:v>
                </c:pt>
              </c:strCache>
            </c:strRef>
          </c:tx>
          <c:spPr>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6'!$C$21</c:f>
              <c:numCache>
                <c:formatCode>General</c:formatCode>
                <c:ptCount val="1"/>
                <c:pt idx="0">
                  <c:v>60.571399999999997</c:v>
                </c:pt>
              </c:numCache>
            </c:numRef>
          </c:val>
          <c:extLst>
            <c:ext xmlns:c16="http://schemas.microsoft.com/office/drawing/2014/chart" uri="{C3380CC4-5D6E-409C-BE32-E72D297353CC}">
              <c16:uniqueId val="{00000004-BA2D-4606-9FD4-C40C181EAEEA}"/>
            </c:ext>
          </c:extLst>
        </c:ser>
        <c:ser>
          <c:idx val="5"/>
          <c:order val="5"/>
          <c:tx>
            <c:strRef>
              <c:f>'Question 6'!$B$22</c:f>
              <c:strCache>
                <c:ptCount val="1"/>
                <c:pt idx="0">
                  <c:v>Spain</c:v>
                </c:pt>
              </c:strCache>
            </c:strRef>
          </c:tx>
          <c:spPr>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6'!$C$22</c:f>
              <c:numCache>
                <c:formatCode>General</c:formatCode>
                <c:ptCount val="1"/>
                <c:pt idx="0">
                  <c:v>131.5625</c:v>
                </c:pt>
              </c:numCache>
            </c:numRef>
          </c:val>
          <c:extLst>
            <c:ext xmlns:c16="http://schemas.microsoft.com/office/drawing/2014/chart" uri="{C3380CC4-5D6E-409C-BE32-E72D297353CC}">
              <c16:uniqueId val="{00000005-BA2D-4606-9FD4-C40C181EAEEA}"/>
            </c:ext>
          </c:extLst>
        </c:ser>
        <c:ser>
          <c:idx val="6"/>
          <c:order val="6"/>
          <c:tx>
            <c:strRef>
              <c:f>'Question 6'!$B$23</c:f>
              <c:strCache>
                <c:ptCount val="1"/>
                <c:pt idx="0">
                  <c:v>Canada</c:v>
                </c:pt>
              </c:strCache>
            </c:strRef>
          </c:tx>
          <c:spPr>
            <a:gradFill rotWithShape="1">
              <a:gsLst>
                <a:gs pos="0">
                  <a:schemeClr val="accent1">
                    <a:lumMod val="60000"/>
                    <a:satMod val="103000"/>
                    <a:lumMod val="102000"/>
                    <a:tint val="94000"/>
                  </a:schemeClr>
                </a:gs>
                <a:gs pos="50000">
                  <a:schemeClr val="accent1">
                    <a:lumMod val="60000"/>
                    <a:satMod val="110000"/>
                    <a:lumMod val="100000"/>
                    <a:shade val="100000"/>
                  </a:schemeClr>
                </a:gs>
                <a:gs pos="100000">
                  <a:schemeClr val="accent1">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6'!$C$23</c:f>
              <c:numCache>
                <c:formatCode>General</c:formatCode>
                <c:ptCount val="1"/>
                <c:pt idx="0">
                  <c:v>48.391300000000001</c:v>
                </c:pt>
              </c:numCache>
            </c:numRef>
          </c:val>
          <c:extLst>
            <c:ext xmlns:c16="http://schemas.microsoft.com/office/drawing/2014/chart" uri="{C3380CC4-5D6E-409C-BE32-E72D297353CC}">
              <c16:uniqueId val="{00000006-BA2D-4606-9FD4-C40C181EAEEA}"/>
            </c:ext>
          </c:extLst>
        </c:ser>
        <c:ser>
          <c:idx val="7"/>
          <c:order val="7"/>
          <c:tx>
            <c:strRef>
              <c:f>'Question 6'!$B$24</c:f>
              <c:strCache>
                <c:ptCount val="1"/>
                <c:pt idx="0">
                  <c:v>Argentina</c:v>
                </c:pt>
              </c:strCache>
            </c:strRef>
          </c:tx>
          <c:spPr>
            <a:gradFill rotWithShape="1">
              <a:gsLst>
                <a:gs pos="0">
                  <a:schemeClr val="accent2">
                    <a:lumMod val="60000"/>
                    <a:satMod val="103000"/>
                    <a:lumMod val="102000"/>
                    <a:tint val="94000"/>
                  </a:schemeClr>
                </a:gs>
                <a:gs pos="50000">
                  <a:schemeClr val="accent2">
                    <a:lumMod val="60000"/>
                    <a:satMod val="110000"/>
                    <a:lumMod val="100000"/>
                    <a:shade val="100000"/>
                  </a:schemeClr>
                </a:gs>
                <a:gs pos="100000">
                  <a:schemeClr val="accent2">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6'!$C$24</c:f>
              <c:numCache>
                <c:formatCode>General</c:formatCode>
                <c:ptCount val="1"/>
                <c:pt idx="0">
                  <c:v>103.1818</c:v>
                </c:pt>
              </c:numCache>
            </c:numRef>
          </c:val>
          <c:extLst>
            <c:ext xmlns:c16="http://schemas.microsoft.com/office/drawing/2014/chart" uri="{C3380CC4-5D6E-409C-BE32-E72D297353CC}">
              <c16:uniqueId val="{00000007-BA2D-4606-9FD4-C40C181EAEEA}"/>
            </c:ext>
          </c:extLst>
        </c:ser>
        <c:ser>
          <c:idx val="8"/>
          <c:order val="8"/>
          <c:tx>
            <c:strRef>
              <c:f>'Question 6'!$B$25</c:f>
              <c:strCache>
                <c:ptCount val="1"/>
                <c:pt idx="0">
                  <c:v>Switzerland</c:v>
                </c:pt>
              </c:strCache>
            </c:strRef>
          </c:tx>
          <c:spPr>
            <a:gradFill rotWithShape="1">
              <a:gsLst>
                <a:gs pos="0">
                  <a:schemeClr val="accent3">
                    <a:lumMod val="60000"/>
                    <a:satMod val="103000"/>
                    <a:lumMod val="102000"/>
                    <a:tint val="94000"/>
                  </a:schemeClr>
                </a:gs>
                <a:gs pos="50000">
                  <a:schemeClr val="accent3">
                    <a:lumMod val="60000"/>
                    <a:satMod val="110000"/>
                    <a:lumMod val="100000"/>
                    <a:shade val="100000"/>
                  </a:schemeClr>
                </a:gs>
                <a:gs pos="100000">
                  <a:schemeClr val="accent3">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6'!$C$25</c:f>
              <c:numCache>
                <c:formatCode>General</c:formatCode>
                <c:ptCount val="1"/>
                <c:pt idx="0">
                  <c:v>102.41670000000001</c:v>
                </c:pt>
              </c:numCache>
            </c:numRef>
          </c:val>
          <c:extLst>
            <c:ext xmlns:c16="http://schemas.microsoft.com/office/drawing/2014/chart" uri="{C3380CC4-5D6E-409C-BE32-E72D297353CC}">
              <c16:uniqueId val="{00000008-BA2D-4606-9FD4-C40C181EAEEA}"/>
            </c:ext>
          </c:extLst>
        </c:ser>
        <c:ser>
          <c:idx val="9"/>
          <c:order val="9"/>
          <c:tx>
            <c:strRef>
              <c:f>'Question 6'!$B$26</c:f>
              <c:strCache>
                <c:ptCount val="1"/>
                <c:pt idx="0">
                  <c:v>Brazil</c:v>
                </c:pt>
              </c:strCache>
            </c:strRef>
          </c:tx>
          <c:spPr>
            <a:gradFill rotWithShape="1">
              <a:gsLst>
                <a:gs pos="0">
                  <a:schemeClr val="accent4">
                    <a:lumMod val="60000"/>
                    <a:satMod val="103000"/>
                    <a:lumMod val="102000"/>
                    <a:tint val="94000"/>
                  </a:schemeClr>
                </a:gs>
                <a:gs pos="50000">
                  <a:schemeClr val="accent4">
                    <a:lumMod val="60000"/>
                    <a:satMod val="110000"/>
                    <a:lumMod val="100000"/>
                    <a:shade val="100000"/>
                  </a:schemeClr>
                </a:gs>
                <a:gs pos="100000">
                  <a:schemeClr val="accent4">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6'!$C$26</c:f>
              <c:numCache>
                <c:formatCode>General</c:formatCode>
                <c:ptCount val="1"/>
                <c:pt idx="0">
                  <c:v>69.338200000000001</c:v>
                </c:pt>
              </c:numCache>
            </c:numRef>
          </c:val>
          <c:extLst>
            <c:ext xmlns:c16="http://schemas.microsoft.com/office/drawing/2014/chart" uri="{C3380CC4-5D6E-409C-BE32-E72D297353CC}">
              <c16:uniqueId val="{00000009-BA2D-4606-9FD4-C40C181EAEEA}"/>
            </c:ext>
          </c:extLst>
        </c:ser>
        <c:ser>
          <c:idx val="10"/>
          <c:order val="10"/>
          <c:tx>
            <c:strRef>
              <c:f>'Question 6'!$B$27</c:f>
              <c:strCache>
                <c:ptCount val="1"/>
                <c:pt idx="0">
                  <c:v>Austria</c:v>
                </c:pt>
              </c:strCache>
            </c:strRef>
          </c:tx>
          <c:spPr>
            <a:gradFill rotWithShape="1">
              <a:gsLst>
                <a:gs pos="0">
                  <a:schemeClr val="accent5">
                    <a:lumMod val="60000"/>
                    <a:satMod val="103000"/>
                    <a:lumMod val="102000"/>
                    <a:tint val="94000"/>
                  </a:schemeClr>
                </a:gs>
                <a:gs pos="50000">
                  <a:schemeClr val="accent5">
                    <a:lumMod val="60000"/>
                    <a:satMod val="110000"/>
                    <a:lumMod val="100000"/>
                    <a:shade val="100000"/>
                  </a:schemeClr>
                </a:gs>
                <a:gs pos="100000">
                  <a:schemeClr val="accent5">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6'!$C$27</c:f>
              <c:numCache>
                <c:formatCode>General</c:formatCode>
                <c:ptCount val="1"/>
                <c:pt idx="0">
                  <c:v>31.088200000000001</c:v>
                </c:pt>
              </c:numCache>
            </c:numRef>
          </c:val>
          <c:extLst>
            <c:ext xmlns:c16="http://schemas.microsoft.com/office/drawing/2014/chart" uri="{C3380CC4-5D6E-409C-BE32-E72D297353CC}">
              <c16:uniqueId val="{0000000A-BA2D-4606-9FD4-C40C181EAEEA}"/>
            </c:ext>
          </c:extLst>
        </c:ser>
        <c:ser>
          <c:idx val="11"/>
          <c:order val="11"/>
          <c:tx>
            <c:strRef>
              <c:f>'Question 6'!$B$28</c:f>
              <c:strCache>
                <c:ptCount val="1"/>
                <c:pt idx="0">
                  <c:v>Italy</c:v>
                </c:pt>
              </c:strCache>
            </c:strRef>
          </c:tx>
          <c:spPr>
            <a:gradFill rotWithShape="1">
              <a:gsLst>
                <a:gs pos="0">
                  <a:schemeClr val="accent6">
                    <a:lumMod val="60000"/>
                    <a:satMod val="103000"/>
                    <a:lumMod val="102000"/>
                    <a:tint val="94000"/>
                  </a:schemeClr>
                </a:gs>
                <a:gs pos="50000">
                  <a:schemeClr val="accent6">
                    <a:lumMod val="60000"/>
                    <a:satMod val="110000"/>
                    <a:lumMod val="100000"/>
                    <a:shade val="100000"/>
                  </a:schemeClr>
                </a:gs>
                <a:gs pos="100000">
                  <a:schemeClr val="accent6">
                    <a:lumMod val="6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6'!$C$28</c:f>
              <c:numCache>
                <c:formatCode>General</c:formatCode>
                <c:ptCount val="1"/>
                <c:pt idx="0">
                  <c:v>71.142899999999997</c:v>
                </c:pt>
              </c:numCache>
            </c:numRef>
          </c:val>
          <c:extLst>
            <c:ext xmlns:c16="http://schemas.microsoft.com/office/drawing/2014/chart" uri="{C3380CC4-5D6E-409C-BE32-E72D297353CC}">
              <c16:uniqueId val="{0000000B-BA2D-4606-9FD4-C40C181EAEEA}"/>
            </c:ext>
          </c:extLst>
        </c:ser>
        <c:ser>
          <c:idx val="12"/>
          <c:order val="12"/>
          <c:tx>
            <c:strRef>
              <c:f>'Question 6'!$B$29</c:f>
              <c:strCache>
                <c:ptCount val="1"/>
                <c:pt idx="0">
                  <c:v>Portugal</c:v>
                </c:pt>
              </c:strCache>
            </c:strRef>
          </c:tx>
          <c:spPr>
            <a:gradFill rotWithShape="1">
              <a:gsLst>
                <a:gs pos="0">
                  <a:schemeClr val="accent1">
                    <a:lumMod val="80000"/>
                    <a:lumOff val="20000"/>
                    <a:satMod val="103000"/>
                    <a:lumMod val="102000"/>
                    <a:tint val="94000"/>
                  </a:schemeClr>
                </a:gs>
                <a:gs pos="50000">
                  <a:schemeClr val="accent1">
                    <a:lumMod val="80000"/>
                    <a:lumOff val="20000"/>
                    <a:satMod val="110000"/>
                    <a:lumMod val="100000"/>
                    <a:shade val="100000"/>
                  </a:schemeClr>
                </a:gs>
                <a:gs pos="100000">
                  <a:schemeClr val="accent1">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6'!$C$29</c:f>
              <c:numCache>
                <c:formatCode>General</c:formatCode>
                <c:ptCount val="1"/>
                <c:pt idx="0">
                  <c:v>95.7273</c:v>
                </c:pt>
              </c:numCache>
            </c:numRef>
          </c:val>
          <c:extLst>
            <c:ext xmlns:c16="http://schemas.microsoft.com/office/drawing/2014/chart" uri="{C3380CC4-5D6E-409C-BE32-E72D297353CC}">
              <c16:uniqueId val="{0000000C-BA2D-4606-9FD4-C40C181EAEEA}"/>
            </c:ext>
          </c:extLst>
        </c:ser>
        <c:ser>
          <c:idx val="13"/>
          <c:order val="13"/>
          <c:tx>
            <c:strRef>
              <c:f>'Question 6'!$B$30</c:f>
              <c:strCache>
                <c:ptCount val="1"/>
                <c:pt idx="0">
                  <c:v>USA</c:v>
                </c:pt>
              </c:strCache>
            </c:strRef>
          </c:tx>
          <c:spPr>
            <a:gradFill rotWithShape="1">
              <a:gsLst>
                <a:gs pos="0">
                  <a:schemeClr val="accent2">
                    <a:lumMod val="80000"/>
                    <a:lumOff val="20000"/>
                    <a:satMod val="103000"/>
                    <a:lumMod val="102000"/>
                    <a:tint val="94000"/>
                  </a:schemeClr>
                </a:gs>
                <a:gs pos="50000">
                  <a:schemeClr val="accent2">
                    <a:lumMod val="80000"/>
                    <a:lumOff val="20000"/>
                    <a:satMod val="110000"/>
                    <a:lumMod val="100000"/>
                    <a:shade val="100000"/>
                  </a:schemeClr>
                </a:gs>
                <a:gs pos="100000">
                  <a:schemeClr val="accent2">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6'!$C$30</c:f>
              <c:numCache>
                <c:formatCode>General</c:formatCode>
                <c:ptCount val="1"/>
                <c:pt idx="0">
                  <c:v>54.814399999999999</c:v>
                </c:pt>
              </c:numCache>
            </c:numRef>
          </c:val>
          <c:extLst>
            <c:ext xmlns:c16="http://schemas.microsoft.com/office/drawing/2014/chart" uri="{C3380CC4-5D6E-409C-BE32-E72D297353CC}">
              <c16:uniqueId val="{0000000D-BA2D-4606-9FD4-C40C181EAEEA}"/>
            </c:ext>
          </c:extLst>
        </c:ser>
        <c:ser>
          <c:idx val="14"/>
          <c:order val="14"/>
          <c:tx>
            <c:strRef>
              <c:f>'Question 6'!$B$31</c:f>
              <c:strCache>
                <c:ptCount val="1"/>
                <c:pt idx="0">
                  <c:v>Venezuela</c:v>
                </c:pt>
              </c:strCache>
            </c:strRef>
          </c:tx>
          <c:spPr>
            <a:gradFill rotWithShape="1">
              <a:gsLst>
                <a:gs pos="0">
                  <a:schemeClr val="accent3">
                    <a:lumMod val="80000"/>
                    <a:lumOff val="20000"/>
                    <a:satMod val="103000"/>
                    <a:lumMod val="102000"/>
                    <a:tint val="94000"/>
                  </a:schemeClr>
                </a:gs>
                <a:gs pos="50000">
                  <a:schemeClr val="accent3">
                    <a:lumMod val="80000"/>
                    <a:lumOff val="20000"/>
                    <a:satMod val="110000"/>
                    <a:lumMod val="100000"/>
                    <a:shade val="100000"/>
                  </a:schemeClr>
                </a:gs>
                <a:gs pos="100000">
                  <a:schemeClr val="accent3">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6'!$C$31</c:f>
              <c:numCache>
                <c:formatCode>General</c:formatCode>
                <c:ptCount val="1"/>
                <c:pt idx="0">
                  <c:v>59.805599999999998</c:v>
                </c:pt>
              </c:numCache>
            </c:numRef>
          </c:val>
          <c:extLst>
            <c:ext xmlns:c16="http://schemas.microsoft.com/office/drawing/2014/chart" uri="{C3380CC4-5D6E-409C-BE32-E72D297353CC}">
              <c16:uniqueId val="{0000000E-BA2D-4606-9FD4-C40C181EAEEA}"/>
            </c:ext>
          </c:extLst>
        </c:ser>
        <c:ser>
          <c:idx val="15"/>
          <c:order val="15"/>
          <c:tx>
            <c:strRef>
              <c:f>'Question 6'!$B$32</c:f>
              <c:strCache>
                <c:ptCount val="1"/>
                <c:pt idx="0">
                  <c:v>Ireland</c:v>
                </c:pt>
              </c:strCache>
            </c:strRef>
          </c:tx>
          <c:spPr>
            <a:gradFill rotWithShape="1">
              <a:gsLst>
                <a:gs pos="0">
                  <a:schemeClr val="accent4">
                    <a:lumMod val="80000"/>
                    <a:lumOff val="20000"/>
                    <a:satMod val="103000"/>
                    <a:lumMod val="102000"/>
                    <a:tint val="94000"/>
                  </a:schemeClr>
                </a:gs>
                <a:gs pos="50000">
                  <a:schemeClr val="accent4">
                    <a:lumMod val="80000"/>
                    <a:lumOff val="20000"/>
                    <a:satMod val="110000"/>
                    <a:lumMod val="100000"/>
                    <a:shade val="100000"/>
                  </a:schemeClr>
                </a:gs>
                <a:gs pos="100000">
                  <a:schemeClr val="accent4">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6'!$C$32</c:f>
              <c:numCache>
                <c:formatCode>General</c:formatCode>
                <c:ptCount val="1"/>
                <c:pt idx="0">
                  <c:v>33.588200000000001</c:v>
                </c:pt>
              </c:numCache>
            </c:numRef>
          </c:val>
          <c:extLst>
            <c:ext xmlns:c16="http://schemas.microsoft.com/office/drawing/2014/chart" uri="{C3380CC4-5D6E-409C-BE32-E72D297353CC}">
              <c16:uniqueId val="{0000000F-BA2D-4606-9FD4-C40C181EAEEA}"/>
            </c:ext>
          </c:extLst>
        </c:ser>
        <c:ser>
          <c:idx val="16"/>
          <c:order val="16"/>
          <c:tx>
            <c:strRef>
              <c:f>'Question 6'!$B$33</c:f>
              <c:strCache>
                <c:ptCount val="1"/>
                <c:pt idx="0">
                  <c:v>Belgium</c:v>
                </c:pt>
              </c:strCache>
            </c:strRef>
          </c:tx>
          <c:spPr>
            <a:gradFill rotWithShape="1">
              <a:gsLst>
                <a:gs pos="0">
                  <a:schemeClr val="accent5">
                    <a:lumMod val="80000"/>
                    <a:lumOff val="20000"/>
                    <a:satMod val="103000"/>
                    <a:lumMod val="102000"/>
                    <a:tint val="94000"/>
                  </a:schemeClr>
                </a:gs>
                <a:gs pos="50000">
                  <a:schemeClr val="accent5">
                    <a:lumMod val="80000"/>
                    <a:lumOff val="20000"/>
                    <a:satMod val="110000"/>
                    <a:lumMod val="100000"/>
                    <a:shade val="100000"/>
                  </a:schemeClr>
                </a:gs>
                <a:gs pos="100000">
                  <a:schemeClr val="accent5">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6'!$C$33</c:f>
              <c:numCache>
                <c:formatCode>General</c:formatCode>
                <c:ptCount val="1"/>
                <c:pt idx="0">
                  <c:v>62.666699999999999</c:v>
                </c:pt>
              </c:numCache>
            </c:numRef>
          </c:val>
          <c:extLst>
            <c:ext xmlns:c16="http://schemas.microsoft.com/office/drawing/2014/chart" uri="{C3380CC4-5D6E-409C-BE32-E72D297353CC}">
              <c16:uniqueId val="{00000010-BA2D-4606-9FD4-C40C181EAEEA}"/>
            </c:ext>
          </c:extLst>
        </c:ser>
        <c:ser>
          <c:idx val="17"/>
          <c:order val="17"/>
          <c:tx>
            <c:strRef>
              <c:f>'Question 6'!$B$34</c:f>
              <c:strCache>
                <c:ptCount val="1"/>
                <c:pt idx="0">
                  <c:v>Norway</c:v>
                </c:pt>
              </c:strCache>
            </c:strRef>
          </c:tx>
          <c:spPr>
            <a:gradFill rotWithShape="1">
              <a:gsLst>
                <a:gs pos="0">
                  <a:schemeClr val="accent6">
                    <a:lumMod val="80000"/>
                    <a:lumOff val="20000"/>
                    <a:satMod val="103000"/>
                    <a:lumMod val="102000"/>
                    <a:tint val="94000"/>
                  </a:schemeClr>
                </a:gs>
                <a:gs pos="50000">
                  <a:schemeClr val="accent6">
                    <a:lumMod val="80000"/>
                    <a:lumOff val="20000"/>
                    <a:satMod val="110000"/>
                    <a:lumMod val="100000"/>
                    <a:shade val="100000"/>
                  </a:schemeClr>
                </a:gs>
                <a:gs pos="100000">
                  <a:schemeClr val="accent6">
                    <a:lumMod val="80000"/>
                    <a:lumOff val="2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6'!$C$34</c:f>
              <c:numCache>
                <c:formatCode>General</c:formatCode>
                <c:ptCount val="1"/>
                <c:pt idx="0">
                  <c:v>108.75</c:v>
                </c:pt>
              </c:numCache>
            </c:numRef>
          </c:val>
          <c:extLst>
            <c:ext xmlns:c16="http://schemas.microsoft.com/office/drawing/2014/chart" uri="{C3380CC4-5D6E-409C-BE32-E72D297353CC}">
              <c16:uniqueId val="{00000011-BA2D-4606-9FD4-C40C181EAEEA}"/>
            </c:ext>
          </c:extLst>
        </c:ser>
        <c:ser>
          <c:idx val="18"/>
          <c:order val="18"/>
          <c:tx>
            <c:strRef>
              <c:f>'Question 6'!$B$35</c:f>
              <c:strCache>
                <c:ptCount val="1"/>
                <c:pt idx="0">
                  <c:v>Denmark</c:v>
                </c:pt>
              </c:strCache>
            </c:strRef>
          </c:tx>
          <c:spPr>
            <a:gradFill rotWithShape="1">
              <a:gsLst>
                <a:gs pos="0">
                  <a:schemeClr val="accent1">
                    <a:lumMod val="80000"/>
                    <a:satMod val="103000"/>
                    <a:lumMod val="102000"/>
                    <a:tint val="94000"/>
                  </a:schemeClr>
                </a:gs>
                <a:gs pos="50000">
                  <a:schemeClr val="accent1">
                    <a:lumMod val="80000"/>
                    <a:satMod val="110000"/>
                    <a:lumMod val="100000"/>
                    <a:shade val="100000"/>
                  </a:schemeClr>
                </a:gs>
                <a:gs pos="100000">
                  <a:schemeClr val="accent1">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6'!$C$35</c:f>
              <c:numCache>
                <c:formatCode>General</c:formatCode>
                <c:ptCount val="1"/>
                <c:pt idx="0">
                  <c:v>61.066699999999997</c:v>
                </c:pt>
              </c:numCache>
            </c:numRef>
          </c:val>
          <c:extLst>
            <c:ext xmlns:c16="http://schemas.microsoft.com/office/drawing/2014/chart" uri="{C3380CC4-5D6E-409C-BE32-E72D297353CC}">
              <c16:uniqueId val="{00000012-BA2D-4606-9FD4-C40C181EAEEA}"/>
            </c:ext>
          </c:extLst>
        </c:ser>
        <c:ser>
          <c:idx val="19"/>
          <c:order val="19"/>
          <c:tx>
            <c:strRef>
              <c:f>'Question 6'!$B$36</c:f>
              <c:strCache>
                <c:ptCount val="1"/>
                <c:pt idx="0">
                  <c:v>Finland</c:v>
                </c:pt>
              </c:strCache>
            </c:strRef>
          </c:tx>
          <c:spPr>
            <a:gradFill rotWithShape="1">
              <a:gsLst>
                <a:gs pos="0">
                  <a:schemeClr val="accent2">
                    <a:lumMod val="80000"/>
                    <a:satMod val="103000"/>
                    <a:lumMod val="102000"/>
                    <a:tint val="94000"/>
                  </a:schemeClr>
                </a:gs>
                <a:gs pos="50000">
                  <a:schemeClr val="accent2">
                    <a:lumMod val="80000"/>
                    <a:satMod val="110000"/>
                    <a:lumMod val="100000"/>
                    <a:shade val="100000"/>
                  </a:schemeClr>
                </a:gs>
                <a:gs pos="100000">
                  <a:schemeClr val="accent2">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6'!$C$36</c:f>
              <c:numCache>
                <c:formatCode>General</c:formatCode>
                <c:ptCount val="1"/>
                <c:pt idx="0">
                  <c:v>40</c:v>
                </c:pt>
              </c:numCache>
            </c:numRef>
          </c:val>
          <c:extLst>
            <c:ext xmlns:c16="http://schemas.microsoft.com/office/drawing/2014/chart" uri="{C3380CC4-5D6E-409C-BE32-E72D297353CC}">
              <c16:uniqueId val="{00000013-BA2D-4606-9FD4-C40C181EAEEA}"/>
            </c:ext>
          </c:extLst>
        </c:ser>
        <c:ser>
          <c:idx val="20"/>
          <c:order val="20"/>
          <c:tx>
            <c:strRef>
              <c:f>'Question 6'!$B$37</c:f>
              <c:strCache>
                <c:ptCount val="1"/>
                <c:pt idx="0">
                  <c:v>Poland</c:v>
                </c:pt>
              </c:strCache>
            </c:strRef>
          </c:tx>
          <c:spPr>
            <a:gradFill rotWithShape="1">
              <a:gsLst>
                <a:gs pos="0">
                  <a:schemeClr val="accent3">
                    <a:lumMod val="80000"/>
                    <a:satMod val="103000"/>
                    <a:lumMod val="102000"/>
                    <a:tint val="94000"/>
                  </a:schemeClr>
                </a:gs>
                <a:gs pos="50000">
                  <a:schemeClr val="accent3">
                    <a:lumMod val="80000"/>
                    <a:satMod val="110000"/>
                    <a:lumMod val="100000"/>
                    <a:shade val="100000"/>
                  </a:schemeClr>
                </a:gs>
                <a:gs pos="100000">
                  <a:schemeClr val="accent3">
                    <a:lumMod val="80000"/>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invertIfNegative val="0"/>
          <c:cat>
            <c:strRef>
              <c:f>'Question 6'!$C$16</c:f>
              <c:strCache>
                <c:ptCount val="1"/>
                <c:pt idx="0">
                  <c:v>Avg_Purchase_Interval</c:v>
                </c:pt>
              </c:strCache>
            </c:strRef>
          </c:cat>
          <c:val>
            <c:numRef>
              <c:f>'Question 6'!$C$37</c:f>
              <c:numCache>
                <c:formatCode>General</c:formatCode>
                <c:ptCount val="1"/>
                <c:pt idx="0">
                  <c:v>96.8</c:v>
                </c:pt>
              </c:numCache>
            </c:numRef>
          </c:val>
          <c:extLst>
            <c:ext xmlns:c16="http://schemas.microsoft.com/office/drawing/2014/chart" uri="{C3380CC4-5D6E-409C-BE32-E72D297353CC}">
              <c16:uniqueId val="{00000014-BA2D-4606-9FD4-C40C181EAEEA}"/>
            </c:ext>
          </c:extLst>
        </c:ser>
        <c:dLbls>
          <c:showLegendKey val="0"/>
          <c:showVal val="0"/>
          <c:showCatName val="0"/>
          <c:showSerName val="0"/>
          <c:showPercent val="0"/>
          <c:showBubbleSize val="0"/>
        </c:dLbls>
        <c:gapWidth val="100"/>
        <c:overlap val="-24"/>
        <c:axId val="289855695"/>
        <c:axId val="1510471039"/>
      </c:barChart>
      <c:catAx>
        <c:axId val="289855695"/>
        <c:scaling>
          <c:orientation val="minMax"/>
        </c:scaling>
        <c:delete val="0"/>
        <c:axPos val="b"/>
        <c:numFmt formatCode="General" sourceLinked="1"/>
        <c:majorTickMark val="none"/>
        <c:minorTickMark val="none"/>
        <c:tickLblPos val="nextTo"/>
        <c:spPr>
          <a:noFill/>
          <a:ln w="12700" cap="flat" cmpd="sng" algn="ctr">
            <a:solidFill>
              <a:schemeClr val="lt1">
                <a:lumMod val="95000"/>
                <a:alpha val="54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10471039"/>
        <c:crosses val="autoZero"/>
        <c:auto val="1"/>
        <c:lblAlgn val="ctr"/>
        <c:lblOffset val="100"/>
        <c:noMultiLvlLbl val="0"/>
      </c:catAx>
      <c:valAx>
        <c:axId val="1510471039"/>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28985569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[NTDS-EDA_Questions.xlsx]Question 7!PivotTable22</c:name>
    <c:fmtId val="7"/>
  </c:pivotSource>
  <c:chart>
    <c:autoTitleDeleted val="1"/>
    <c:pivotFmts>
      <c:pivotFmt>
        <c:idx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'Question 7'!$B$4</c:f>
              <c:strCache>
                <c:ptCount val="1"/>
                <c:pt idx="0">
                  <c:v>Total</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l"/>
            </a:scene3d>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multiLvlStrRef>
              <c:f>'Question 7'!$A$5:$A$19</c:f>
              <c:multiLvlStrCache>
                <c:ptCount val="7"/>
                <c:lvl>
                  <c:pt idx="0">
                    <c:v>Sales Manager</c:v>
                  </c:pt>
                  <c:pt idx="1">
                    <c:v>Sales Representative</c:v>
                  </c:pt>
                  <c:pt idx="2">
                    <c:v>Sales Representative</c:v>
                  </c:pt>
                  <c:pt idx="3">
                    <c:v>Sales Representative</c:v>
                  </c:pt>
                  <c:pt idx="4">
                    <c:v>Inside Sales Coordinator</c:v>
                  </c:pt>
                  <c:pt idx="5">
                    <c:v>Sales Representative</c:v>
                  </c:pt>
                  <c:pt idx="6">
                    <c:v>Vice President Sales</c:v>
                  </c:pt>
                </c:lvl>
                <c:lvl>
                  <c:pt idx="0">
                    <c:v>London</c:v>
                  </c:pt>
                  <c:pt idx="2">
                    <c:v>Kirkland</c:v>
                  </c:pt>
                  <c:pt idx="3">
                    <c:v>Redmond</c:v>
                  </c:pt>
                  <c:pt idx="4">
                    <c:v>Seattle</c:v>
                  </c:pt>
                  <c:pt idx="6">
                    <c:v>Tacoma</c:v>
                  </c:pt>
                </c:lvl>
                <c:lvl>
                  <c:pt idx="0">
                    <c:v>UK</c:v>
                  </c:pt>
                  <c:pt idx="2">
                    <c:v>USA</c:v>
                  </c:pt>
                </c:lvl>
              </c:multiLvlStrCache>
            </c:multiLvlStrRef>
          </c:cat>
          <c:val>
            <c:numRef>
              <c:f>'Question 7'!$B$5:$B$19</c:f>
              <c:numCache>
                <c:formatCode>General</c:formatCode>
                <c:ptCount val="7"/>
                <c:pt idx="0">
                  <c:v>1</c:v>
                </c:pt>
                <c:pt idx="1">
                  <c:v>3</c:v>
                </c:pt>
                <c:pt idx="2">
                  <c:v>1</c:v>
                </c:pt>
                <c:pt idx="3">
                  <c:v>1</c:v>
                </c:pt>
                <c:pt idx="4">
                  <c:v>1</c:v>
                </c:pt>
                <c:pt idx="5">
                  <c:v>1</c:v>
                </c:pt>
                <c:pt idx="6">
                  <c:v>1</c:v>
                </c:pt>
              </c:numCache>
            </c:numRef>
          </c:val>
          <c:extLst>
            <c:ext xmlns:c16="http://schemas.microsoft.com/office/drawing/2014/chart" uri="{C3380CC4-5D6E-409C-BE32-E72D297353CC}">
              <c16:uniqueId val="{00000000-0B82-4BE4-B44A-870B5397F07A}"/>
            </c:ext>
          </c:extLst>
        </c:ser>
        <c:dLbls>
          <c:showLegendKey val="0"/>
          <c:showVal val="1"/>
          <c:showCatName val="0"/>
          <c:showSerName val="0"/>
          <c:showPercent val="0"/>
          <c:showBubbleSize val="0"/>
        </c:dLbls>
        <c:gapWidth val="150"/>
        <c:shape val="box"/>
        <c:axId val="1508308463"/>
        <c:axId val="1508306543"/>
        <c:axId val="0"/>
      </c:bar3DChart>
      <c:catAx>
        <c:axId val="150830846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08306543"/>
        <c:crosses val="autoZero"/>
        <c:auto val="1"/>
        <c:lblAlgn val="ctr"/>
        <c:lblOffset val="100"/>
        <c:noMultiLvlLbl val="0"/>
      </c:catAx>
      <c:valAx>
        <c:axId val="1508306543"/>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50830846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pivotSource>
    <c:name>[NTDS-EDA_Questions.xlsx]Question 8!PivotTable23</c:name>
    <c:fmtId val="10"/>
  </c:pivotSource>
  <c:chart>
    <c:autoTitleDeleted val="1"/>
    <c:pivotFmts>
      <c:pivotFmt>
        <c:idx val="0"/>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34925" cap="rnd">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34925" cap="rnd">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gradFill rotWithShape="1">
            <a:gsLst>
              <a:gs pos="0">
                <a:schemeClr val="accent2">
                  <a:tint val="96000"/>
                  <a:lumMod val="100000"/>
                </a:schemeClr>
              </a:gs>
              <a:gs pos="78000">
                <a:schemeClr val="accent2">
                  <a:shade val="94000"/>
                  <a:lumMod val="94000"/>
                </a:schemeClr>
              </a:gs>
            </a:gsLst>
            <a:lin ang="5400000" scaled="0"/>
          </a:gradFill>
          <a:ln w="34925" cap="rnd">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8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'Question 8'!$B$4</c:f>
              <c:strCache>
                <c:ptCount val="1"/>
                <c:pt idx="0">
                  <c:v>Total</c:v>
                </c:pt>
              </c:strCache>
            </c:strRef>
          </c:tx>
          <c:spPr>
            <a:ln w="34925" cap="rnd">
              <a:solidFill>
                <a:schemeClr val="accent2"/>
              </a:solidFill>
              <a:round/>
            </a:ln>
            <a:effectLst>
              <a:outerShdw blurRad="57150" dist="19050" dir="5400000" algn="ctr" rotWithShape="0">
                <a:srgbClr val="000000">
                  <a:alpha val="63000"/>
                </a:srgbClr>
              </a:outerShdw>
            </a:effectLst>
          </c:spPr>
          <c:marker>
            <c:symbol val="circle"/>
            <c:size val="6"/>
            <c:spPr>
              <a:gradFill rotWithShape="1">
                <a:gsLst>
                  <a:gs pos="0">
                    <a:schemeClr val="accent2">
                      <a:satMod val="103000"/>
                      <a:lumMod val="102000"/>
                      <a:tint val="94000"/>
                    </a:schemeClr>
                  </a:gs>
                  <a:gs pos="50000">
                    <a:schemeClr val="accent2">
                      <a:satMod val="110000"/>
                      <a:lumMod val="100000"/>
                      <a:shade val="100000"/>
                    </a:schemeClr>
                  </a:gs>
                  <a:gs pos="100000">
                    <a:schemeClr val="accent2">
                      <a:lumMod val="99000"/>
                      <a:satMod val="120000"/>
                      <a:shade val="78000"/>
                    </a:schemeClr>
                  </a:gs>
                </a:gsLst>
                <a:lin ang="5400000" scaled="0"/>
              </a:gradFill>
              <a:ln w="9525">
                <a:solidFill>
                  <a:schemeClr val="accent2"/>
                </a:solidFill>
                <a:round/>
              </a:ln>
              <a:effectLst>
                <a:outerShdw blurRad="57150" dist="19050" dir="5400000" algn="ctr" rotWithShape="0">
                  <a:srgbClr val="000000">
                    <a:alpha val="63000"/>
                  </a:srgbClr>
                </a:outerShdw>
              </a:effectLst>
              <a:scene3d>
                <a:camera prst="orthographicFront">
                  <a:rot lat="0" lon="0" rev="0"/>
                </a:camera>
                <a:lightRig rig="threePt" dir="tl"/>
              </a:scene3d>
              <a:sp3d prstMaterial="plastic">
                <a:bevelT w="0" h="0"/>
              </a:sp3d>
            </c:spPr>
          </c:marker>
          <c:cat>
            <c:multiLvlStrRef>
              <c:f>'Question 8'!$A$5:$A$10</c:f>
              <c:multiLvlStrCache>
                <c:ptCount val="4"/>
                <c:lvl>
                  <c:pt idx="0">
                    <c:v>Sales Representative</c:v>
                  </c:pt>
                  <c:pt idx="1">
                    <c:v>Vice President Sales</c:v>
                  </c:pt>
                </c:lvl>
                <c:lvl>
                  <c:pt idx="0">
                    <c:v>1992</c:v>
                  </c:pt>
                  <c:pt idx="2">
                    <c:v>1993</c:v>
                  </c:pt>
                  <c:pt idx="3">
                    <c:v>1994</c:v>
                  </c:pt>
                </c:lvl>
              </c:multiLvlStrCache>
            </c:multiLvlStrRef>
          </c:cat>
          <c:val>
            <c:numRef>
              <c:f>'Question 8'!$B$5:$B$10</c:f>
              <c:numCache>
                <c:formatCode>General</c:formatCode>
                <c:ptCount val="4"/>
                <c:pt idx="0">
                  <c:v>2</c:v>
                </c:pt>
                <c:pt idx="1">
                  <c:v>1</c:v>
                </c:pt>
                <c:pt idx="2">
                  <c:v>3</c:v>
                </c:pt>
                <c:pt idx="3">
                  <c:v>3</c:v>
                </c:pt>
              </c:numCache>
            </c:numRef>
          </c:val>
          <c:smooth val="0"/>
          <c:extLst>
            <c:ext xmlns:c16="http://schemas.microsoft.com/office/drawing/2014/chart" uri="{C3380CC4-5D6E-409C-BE32-E72D297353CC}">
              <c16:uniqueId val="{00000000-4A90-49D0-B463-4535E7388CDC}"/>
            </c:ext>
          </c:extLst>
        </c:ser>
        <c:dLbls>
          <c:showLegendKey val="0"/>
          <c:showVal val="0"/>
          <c:showCatName val="0"/>
          <c:showSerName val="0"/>
          <c:showPercent val="0"/>
          <c:showBubbleSize val="0"/>
        </c:dLbls>
        <c:marker val="1"/>
        <c:smooth val="0"/>
        <c:axId val="1458102399"/>
        <c:axId val="1458103359"/>
      </c:lineChart>
      <c:catAx>
        <c:axId val="1458102399"/>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58103359"/>
        <c:crosses val="autoZero"/>
        <c:auto val="1"/>
        <c:lblAlgn val="ctr"/>
        <c:lblOffset val="100"/>
        <c:noMultiLvlLbl val="0"/>
      </c:catAx>
      <c:valAx>
        <c:axId val="1458103359"/>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45810239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'Question 13'!$C$21</c:f>
              <c:strCache>
                <c:ptCount val="1"/>
                <c:pt idx="0">
                  <c:v>Suppliers_count</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strRef>
              <c:f>'Question 13'!$B$22:$B$38</c:f>
              <c:strCache>
                <c:ptCount val="17"/>
                <c:pt idx="0">
                  <c:v>UK</c:v>
                </c:pt>
                <c:pt idx="1">
                  <c:v>USA</c:v>
                </c:pt>
                <c:pt idx="2">
                  <c:v>Japan</c:v>
                </c:pt>
                <c:pt idx="3">
                  <c:v>Spain</c:v>
                </c:pt>
                <c:pt idx="4">
                  <c:v>Australia</c:v>
                </c:pt>
                <c:pt idx="5">
                  <c:v>Sweden</c:v>
                </c:pt>
                <c:pt idx="6">
                  <c:v>Brazil</c:v>
                </c:pt>
                <c:pt idx="7">
                  <c:v>Germany</c:v>
                </c:pt>
                <c:pt idx="8">
                  <c:v>Italy</c:v>
                </c:pt>
                <c:pt idx="9">
                  <c:v>Norway</c:v>
                </c:pt>
                <c:pt idx="10">
                  <c:v>Sweden</c:v>
                </c:pt>
                <c:pt idx="11">
                  <c:v>France</c:v>
                </c:pt>
                <c:pt idx="12">
                  <c:v>Singapore</c:v>
                </c:pt>
                <c:pt idx="13">
                  <c:v>Denmark</c:v>
                </c:pt>
                <c:pt idx="14">
                  <c:v>Netherlands</c:v>
                </c:pt>
                <c:pt idx="15">
                  <c:v>Finland</c:v>
                </c:pt>
                <c:pt idx="16">
                  <c:v>Canada</c:v>
                </c:pt>
              </c:strCache>
            </c:strRef>
          </c:cat>
          <c:val>
            <c:numRef>
              <c:f>'Question 13'!$C$22:$C$38</c:f>
              <c:numCache>
                <c:formatCode>General</c:formatCode>
                <c:ptCount val="17"/>
                <c:pt idx="0">
                  <c:v>7</c:v>
                </c:pt>
                <c:pt idx="1">
                  <c:v>12</c:v>
                </c:pt>
                <c:pt idx="2">
                  <c:v>6</c:v>
                </c:pt>
                <c:pt idx="3">
                  <c:v>2</c:v>
                </c:pt>
                <c:pt idx="4">
                  <c:v>8</c:v>
                </c:pt>
                <c:pt idx="5">
                  <c:v>2</c:v>
                </c:pt>
                <c:pt idx="6">
                  <c:v>1</c:v>
                </c:pt>
                <c:pt idx="7">
                  <c:v>9</c:v>
                </c:pt>
                <c:pt idx="8">
                  <c:v>5</c:v>
                </c:pt>
                <c:pt idx="9">
                  <c:v>3</c:v>
                </c:pt>
                <c:pt idx="10">
                  <c:v>3</c:v>
                </c:pt>
                <c:pt idx="11">
                  <c:v>5</c:v>
                </c:pt>
                <c:pt idx="12">
                  <c:v>3</c:v>
                </c:pt>
                <c:pt idx="13">
                  <c:v>2</c:v>
                </c:pt>
                <c:pt idx="14">
                  <c:v>2</c:v>
                </c:pt>
                <c:pt idx="15">
                  <c:v>3</c:v>
                </c:pt>
                <c:pt idx="16">
                  <c:v>4</c:v>
                </c:pt>
              </c:numCache>
            </c:numRef>
          </c:val>
          <c:smooth val="0"/>
          <c:extLst>
            <c:ext xmlns:c16="http://schemas.microsoft.com/office/drawing/2014/chart" uri="{C3380CC4-5D6E-409C-BE32-E72D297353CC}">
              <c16:uniqueId val="{00000000-5288-46EA-AA65-F3C3350DD48F}"/>
            </c:ext>
          </c:extLst>
        </c:ser>
        <c:ser>
          <c:idx val="1"/>
          <c:order val="1"/>
          <c:tx>
            <c:strRef>
              <c:f>'Question 13'!$D$21</c:f>
              <c:strCache>
                <c:ptCount val="1"/>
                <c:pt idx="0">
                  <c:v>Avg_Pricing</c:v>
                </c:pt>
              </c:strCache>
            </c:strRef>
          </c:tx>
          <c:spPr>
            <a:ln w="34925" cap="rnd">
              <a:solidFill>
                <a:schemeClr val="accent2"/>
              </a:solidFill>
              <a:round/>
            </a:ln>
            <a:effectLst>
              <a:outerShdw blurRad="57150" dist="19050" dir="5400000" algn="ctr" rotWithShape="0">
                <a:srgbClr val="000000">
                  <a:alpha val="63000"/>
                </a:srgbClr>
              </a:outerShdw>
            </a:effectLst>
          </c:spPr>
          <c:marker>
            <c:symbol val="none"/>
          </c:marker>
          <c:cat>
            <c:strRef>
              <c:f>'Question 13'!$B$22:$B$38</c:f>
              <c:strCache>
                <c:ptCount val="17"/>
                <c:pt idx="0">
                  <c:v>UK</c:v>
                </c:pt>
                <c:pt idx="1">
                  <c:v>USA</c:v>
                </c:pt>
                <c:pt idx="2">
                  <c:v>Japan</c:v>
                </c:pt>
                <c:pt idx="3">
                  <c:v>Spain</c:v>
                </c:pt>
                <c:pt idx="4">
                  <c:v>Australia</c:v>
                </c:pt>
                <c:pt idx="5">
                  <c:v>Sweden</c:v>
                </c:pt>
                <c:pt idx="6">
                  <c:v>Brazil</c:v>
                </c:pt>
                <c:pt idx="7">
                  <c:v>Germany</c:v>
                </c:pt>
                <c:pt idx="8">
                  <c:v>Italy</c:v>
                </c:pt>
                <c:pt idx="9">
                  <c:v>Norway</c:v>
                </c:pt>
                <c:pt idx="10">
                  <c:v>Sweden</c:v>
                </c:pt>
                <c:pt idx="11">
                  <c:v>France</c:v>
                </c:pt>
                <c:pt idx="12">
                  <c:v>Singapore</c:v>
                </c:pt>
                <c:pt idx="13">
                  <c:v>Denmark</c:v>
                </c:pt>
                <c:pt idx="14">
                  <c:v>Netherlands</c:v>
                </c:pt>
                <c:pt idx="15">
                  <c:v>Finland</c:v>
                </c:pt>
                <c:pt idx="16">
                  <c:v>Canada</c:v>
                </c:pt>
              </c:strCache>
            </c:strRef>
          </c:cat>
          <c:val>
            <c:numRef>
              <c:f>'Question 13'!$D$22:$D$38</c:f>
              <c:numCache>
                <c:formatCode>General</c:formatCode>
                <c:ptCount val="17"/>
                <c:pt idx="0">
                  <c:v>22.81</c:v>
                </c:pt>
                <c:pt idx="1">
                  <c:v>20.87</c:v>
                </c:pt>
                <c:pt idx="2">
                  <c:v>30.46</c:v>
                </c:pt>
                <c:pt idx="3">
                  <c:v>29.5</c:v>
                </c:pt>
                <c:pt idx="4">
                  <c:v>33.83</c:v>
                </c:pt>
                <c:pt idx="5">
                  <c:v>15</c:v>
                </c:pt>
                <c:pt idx="6">
                  <c:v>4.5</c:v>
                </c:pt>
                <c:pt idx="7">
                  <c:v>37.6</c:v>
                </c:pt>
                <c:pt idx="8">
                  <c:v>27.36</c:v>
                </c:pt>
                <c:pt idx="9">
                  <c:v>20</c:v>
                </c:pt>
                <c:pt idx="10">
                  <c:v>20</c:v>
                </c:pt>
                <c:pt idx="11">
                  <c:v>76.75</c:v>
                </c:pt>
                <c:pt idx="12">
                  <c:v>26.48</c:v>
                </c:pt>
                <c:pt idx="13">
                  <c:v>10.75</c:v>
                </c:pt>
                <c:pt idx="14">
                  <c:v>11.12</c:v>
                </c:pt>
                <c:pt idx="15">
                  <c:v>18.079999999999998</c:v>
                </c:pt>
                <c:pt idx="16">
                  <c:v>27.31</c:v>
                </c:pt>
              </c:numCache>
            </c:numRef>
          </c:val>
          <c:smooth val="0"/>
          <c:extLst>
            <c:ext xmlns:c16="http://schemas.microsoft.com/office/drawing/2014/chart" uri="{C3380CC4-5D6E-409C-BE32-E72D297353CC}">
              <c16:uniqueId val="{00000001-5288-46EA-AA65-F3C3350DD48F}"/>
            </c:ext>
          </c:extLst>
        </c:ser>
        <c:dLbls>
          <c:showLegendKey val="0"/>
          <c:showVal val="0"/>
          <c:showCatName val="0"/>
          <c:showSerName val="0"/>
          <c:showPercent val="0"/>
          <c:showBubbleSize val="0"/>
        </c:dLbls>
        <c:smooth val="0"/>
        <c:axId val="1716495535"/>
        <c:axId val="1716496975"/>
      </c:lineChart>
      <c:catAx>
        <c:axId val="1716495535"/>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716496975"/>
        <c:crosses val="autoZero"/>
        <c:auto val="1"/>
        <c:lblAlgn val="ctr"/>
        <c:lblOffset val="100"/>
        <c:noMultiLvlLbl val="0"/>
      </c:catAx>
      <c:valAx>
        <c:axId val="1716496975"/>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71649553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'Question 13'!$H$21</c:f>
              <c:strCache>
                <c:ptCount val="1"/>
                <c:pt idx="0">
                  <c:v>Category_count</c:v>
                </c:pt>
              </c:strCache>
            </c:strRef>
          </c:tx>
          <c:spPr>
            <a:ln w="34925" cap="rnd">
              <a:solidFill>
                <a:schemeClr val="accent1"/>
              </a:solidFill>
              <a:round/>
            </a:ln>
            <a:effectLst>
              <a:outerShdw blurRad="57150" dist="19050" dir="5400000" algn="ctr" rotWithShape="0">
                <a:srgbClr val="000000">
                  <a:alpha val="63000"/>
                </a:srgbClr>
              </a:outerShdw>
            </a:effectLst>
          </c:spPr>
          <c:marker>
            <c:symbol val="none"/>
          </c:marker>
          <c:cat>
            <c:strRef>
              <c:f>'Question 13'!$G$22:$G$50</c:f>
              <c:strCache>
                <c:ptCount val="29"/>
                <c:pt idx="0">
                  <c:v>Exotic Liquids</c:v>
                </c:pt>
                <c:pt idx="1">
                  <c:v>New Orleans Cajun Delights</c:v>
                </c:pt>
                <c:pt idx="2">
                  <c:v>Grandma Kelly's Homestead</c:v>
                </c:pt>
                <c:pt idx="3">
                  <c:v>Tokyo Traders</c:v>
                </c:pt>
                <c:pt idx="4">
                  <c:v>Cooperativa de Quesos 'Las Cabras'</c:v>
                </c:pt>
                <c:pt idx="5">
                  <c:v>Mayumi's</c:v>
                </c:pt>
                <c:pt idx="6">
                  <c:v>Pavlova, Ltd.</c:v>
                </c:pt>
                <c:pt idx="7">
                  <c:v>Specialty Biscuits, Ltd.</c:v>
                </c:pt>
                <c:pt idx="8">
                  <c:v>PB Knäckebröd</c:v>
                </c:pt>
                <c:pt idx="9">
                  <c:v>Refrescos Americanas LTDA</c:v>
                </c:pt>
                <c:pt idx="10">
                  <c:v>Heli Süßwaren GmbH &amp; Co.</c:v>
                </c:pt>
                <c:pt idx="11">
                  <c:v>Plutzer Lebensmittelgroßmärkte</c:v>
                </c:pt>
                <c:pt idx="12">
                  <c:v>Nord-Ost-Fisch Handelsgesellschaft mbH</c:v>
                </c:pt>
                <c:pt idx="13">
                  <c:v>Formaggi Fortini s.r.l.</c:v>
                </c:pt>
                <c:pt idx="14">
                  <c:v>Norske Meierier</c:v>
                </c:pt>
                <c:pt idx="15">
                  <c:v>Bigfoot Breweries</c:v>
                </c:pt>
                <c:pt idx="16">
                  <c:v>Svensk Sjöföda</c:v>
                </c:pt>
                <c:pt idx="17">
                  <c:v>Aux joyeux ecclésiastique</c:v>
                </c:pt>
                <c:pt idx="18">
                  <c:v>New England Seafood Cannery</c:v>
                </c:pt>
                <c:pt idx="19">
                  <c:v>Leka Trading</c:v>
                </c:pt>
                <c:pt idx="20">
                  <c:v>Lyngbysild</c:v>
                </c:pt>
                <c:pt idx="21">
                  <c:v>Zaanse Snoepfabriek</c:v>
                </c:pt>
                <c:pt idx="22">
                  <c:v>Karkki Oy</c:v>
                </c:pt>
                <c:pt idx="23">
                  <c:v>G'day, Mate</c:v>
                </c:pt>
                <c:pt idx="24">
                  <c:v>Ma Maison</c:v>
                </c:pt>
                <c:pt idx="25">
                  <c:v>Pasta Buttini s.r.l.</c:v>
                </c:pt>
                <c:pt idx="26">
                  <c:v>Escargots Nouveaux</c:v>
                </c:pt>
                <c:pt idx="27">
                  <c:v>Gai pâturag</c:v>
                </c:pt>
                <c:pt idx="28">
                  <c:v>Forêts d'érabl</c:v>
                </c:pt>
              </c:strCache>
              <c:extLst/>
            </c:strRef>
          </c:cat>
          <c:val>
            <c:numRef>
              <c:f>'Question 13'!$H$22:$H$50</c:f>
              <c:numCache>
                <c:formatCode>General</c:formatCode>
                <c:ptCount val="29"/>
                <c:pt idx="0">
                  <c:v>2</c:v>
                </c:pt>
                <c:pt idx="1">
                  <c:v>1</c:v>
                </c:pt>
                <c:pt idx="2">
                  <c:v>2</c:v>
                </c:pt>
                <c:pt idx="3">
                  <c:v>3</c:v>
                </c:pt>
                <c:pt idx="4">
                  <c:v>1</c:v>
                </c:pt>
                <c:pt idx="5">
                  <c:v>3</c:v>
                </c:pt>
                <c:pt idx="6">
                  <c:v>5</c:v>
                </c:pt>
                <c:pt idx="7">
                  <c:v>1</c:v>
                </c:pt>
                <c:pt idx="8">
                  <c:v>1</c:v>
                </c:pt>
                <c:pt idx="9">
                  <c:v>1</c:v>
                </c:pt>
                <c:pt idx="10">
                  <c:v>1</c:v>
                </c:pt>
                <c:pt idx="11">
                  <c:v>5</c:v>
                </c:pt>
                <c:pt idx="12">
                  <c:v>1</c:v>
                </c:pt>
                <c:pt idx="13">
                  <c:v>1</c:v>
                </c:pt>
                <c:pt idx="14">
                  <c:v>1</c:v>
                </c:pt>
                <c:pt idx="15">
                  <c:v>1</c:v>
                </c:pt>
                <c:pt idx="16">
                  <c:v>1</c:v>
                </c:pt>
                <c:pt idx="17">
                  <c:v>1</c:v>
                </c:pt>
                <c:pt idx="18">
                  <c:v>1</c:v>
                </c:pt>
                <c:pt idx="19">
                  <c:v>3</c:v>
                </c:pt>
                <c:pt idx="20">
                  <c:v>1</c:v>
                </c:pt>
                <c:pt idx="21">
                  <c:v>1</c:v>
                </c:pt>
                <c:pt idx="22">
                  <c:v>2</c:v>
                </c:pt>
                <c:pt idx="23">
                  <c:v>3</c:v>
                </c:pt>
                <c:pt idx="24">
                  <c:v>1</c:v>
                </c:pt>
                <c:pt idx="25">
                  <c:v>1</c:v>
                </c:pt>
                <c:pt idx="26">
                  <c:v>1</c:v>
                </c:pt>
                <c:pt idx="27">
                  <c:v>1</c:v>
                </c:pt>
                <c:pt idx="28">
                  <c:v>2</c:v>
                </c:pt>
              </c:numCache>
            </c:numRef>
          </c:val>
          <c:smooth val="0"/>
          <c:extLst>
            <c:ext xmlns:c16="http://schemas.microsoft.com/office/drawing/2014/chart" uri="{C3380CC4-5D6E-409C-BE32-E72D297353CC}">
              <c16:uniqueId val="{00000000-D8DC-47C2-A7B4-657BF2261AFE}"/>
            </c:ext>
          </c:extLst>
        </c:ser>
        <c:dLbls>
          <c:showLegendKey val="0"/>
          <c:showVal val="0"/>
          <c:showCatName val="0"/>
          <c:showSerName val="0"/>
          <c:showPercent val="0"/>
          <c:showBubbleSize val="0"/>
        </c:dLbls>
        <c:smooth val="0"/>
        <c:axId val="1619213471"/>
        <c:axId val="1619208671"/>
      </c:lineChart>
      <c:catAx>
        <c:axId val="1619213471"/>
        <c:scaling>
          <c:orientation val="minMax"/>
        </c:scaling>
        <c:delete val="0"/>
        <c:axPos val="b"/>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19208671"/>
        <c:crosses val="autoZero"/>
        <c:auto val="1"/>
        <c:lblAlgn val="ctr"/>
        <c:lblOffset val="100"/>
        <c:noMultiLvlLbl val="0"/>
      </c:catAx>
      <c:valAx>
        <c:axId val="1619208671"/>
        <c:scaling>
          <c:orientation val="minMax"/>
        </c:scaling>
        <c:delete val="0"/>
        <c:axPos val="l"/>
        <c:majorGridlines>
          <c:spPr>
            <a:ln w="9525" cap="flat" cmpd="sng" algn="ctr">
              <a:solidFill>
                <a:schemeClr val="lt1">
                  <a:lumMod val="95000"/>
                  <a:alpha val="1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85000"/>
                  </a:schemeClr>
                </a:solidFill>
                <a:latin typeface="+mn-lt"/>
                <a:ea typeface="+mn-ea"/>
                <a:cs typeface="+mn-cs"/>
              </a:defRPr>
            </a:pPr>
            <a:endParaRPr lang="en-US"/>
          </a:p>
        </c:txPr>
        <c:crossAx val="1619213471"/>
        <c:crosses val="autoZero"/>
        <c:crossBetween val="between"/>
      </c:valAx>
      <c:spPr>
        <a:noFill/>
        <a:ln>
          <a:noFill/>
        </a:ln>
        <a:effectLst/>
      </c:spPr>
    </c:plotArea>
    <c:plotVisOnly val="1"/>
    <c:dispBlanksAs val="gap"/>
    <c:showDLblsOverMax val="0"/>
  </c:chart>
  <c: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15"/>
      <c:rotY val="20"/>
      <c:depthPercent val="100"/>
      <c:rAngAx val="1"/>
    </c:view3D>
    <c:floor>
      <c:thickness val="0"/>
      <c:spPr>
        <a:solidFill>
          <a:schemeClr val="bg2">
            <a:lumMod val="75000"/>
            <a:alpha val="27000"/>
          </a:schemeClr>
        </a:solid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'Question 14'!$D$13</c:f>
              <c:strCache>
                <c:ptCount val="1"/>
                <c:pt idx="0">
                  <c:v>Suppliers_count</c:v>
                </c:pt>
              </c:strCache>
            </c:strRef>
          </c:tx>
          <c:spPr>
            <a:solidFill>
              <a:schemeClr val="accent6">
                <a:alpha val="88000"/>
              </a:schemeClr>
            </a:solidFill>
            <a:ln>
              <a:solidFill>
                <a:schemeClr val="accent6">
                  <a:lumMod val="50000"/>
                </a:schemeClr>
              </a:solidFill>
            </a:ln>
            <a:effectLst/>
            <a:scene3d>
              <a:camera prst="orthographicFront"/>
              <a:lightRig rig="threePt" dir="t"/>
            </a:scene3d>
            <a:sp3d prstMaterial="flat">
              <a:contourClr>
                <a:schemeClr val="accent6">
                  <a:lumMod val="50000"/>
                </a:schemeClr>
              </a:contourClr>
            </a:sp3d>
          </c:spPr>
          <c:invertIfNegative val="0"/>
          <c:dLbls>
            <c:spPr>
              <a:solidFill>
                <a:schemeClr val="accent6">
                  <a:alpha val="30000"/>
                </a:schemeClr>
              </a:solidFill>
              <a:ln>
                <a:solidFill>
                  <a:schemeClr val="lt1">
                    <a:alpha val="50000"/>
                  </a:schemeClr>
                </a:solidFill>
                <a:round/>
              </a:ln>
              <a:effectLst>
                <a:outerShdw blurRad="63500" dist="889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900" b="1" i="0" u="none" strike="noStrike" kern="1200" baseline="0">
                    <a:solidFill>
                      <a:schemeClr val="lt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cat>
            <c:strRef>
              <c:f>'Question 14'!$C$14:$C$21</c:f>
              <c:strCache>
                <c:ptCount val="8"/>
                <c:pt idx="0">
                  <c:v>Confections</c:v>
                </c:pt>
                <c:pt idx="1">
                  <c:v>Beverages</c:v>
                </c:pt>
                <c:pt idx="2">
                  <c:v>Condiments</c:v>
                </c:pt>
                <c:pt idx="3">
                  <c:v>Seafood</c:v>
                </c:pt>
                <c:pt idx="4">
                  <c:v>Dairy Products</c:v>
                </c:pt>
                <c:pt idx="5">
                  <c:v>Grains/Cereals</c:v>
                </c:pt>
                <c:pt idx="6">
                  <c:v>Meat/Poultry</c:v>
                </c:pt>
                <c:pt idx="7">
                  <c:v>Produce</c:v>
                </c:pt>
              </c:strCache>
            </c:strRef>
          </c:cat>
          <c:val>
            <c:numRef>
              <c:f>'Question 14'!$D$14:$D$21</c:f>
              <c:numCache>
                <c:formatCode>General</c:formatCode>
                <c:ptCount val="8"/>
                <c:pt idx="0">
                  <c:v>13</c:v>
                </c:pt>
                <c:pt idx="1">
                  <c:v>12</c:v>
                </c:pt>
                <c:pt idx="2">
                  <c:v>12</c:v>
                </c:pt>
                <c:pt idx="3">
                  <c:v>12</c:v>
                </c:pt>
                <c:pt idx="4">
                  <c:v>10</c:v>
                </c:pt>
                <c:pt idx="5">
                  <c:v>7</c:v>
                </c:pt>
                <c:pt idx="6">
                  <c:v>6</c:v>
                </c:pt>
                <c:pt idx="7">
                  <c:v>5</c:v>
                </c:pt>
              </c:numCache>
            </c:numRef>
          </c:val>
          <c:extLst>
            <c:ext xmlns:c16="http://schemas.microsoft.com/office/drawing/2014/chart" uri="{C3380CC4-5D6E-409C-BE32-E72D297353CC}">
              <c16:uniqueId val="{00000000-46F3-4764-83D8-A76C901D4BB8}"/>
            </c:ext>
          </c:extLst>
        </c:ser>
        <c:dLbls>
          <c:showLegendKey val="0"/>
          <c:showVal val="1"/>
          <c:showCatName val="0"/>
          <c:showSerName val="0"/>
          <c:showPercent val="0"/>
          <c:showBubbleSize val="0"/>
        </c:dLbls>
        <c:gapWidth val="84"/>
        <c:gapDepth val="53"/>
        <c:shape val="box"/>
        <c:axId val="1745181439"/>
        <c:axId val="1745181919"/>
        <c:axId val="0"/>
      </c:bar3DChart>
      <c:catAx>
        <c:axId val="1745181439"/>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745181919"/>
        <c:crosses val="autoZero"/>
        <c:auto val="1"/>
        <c:lblAlgn val="ctr"/>
        <c:lblOffset val="100"/>
        <c:noMultiLvlLbl val="0"/>
      </c:catAx>
      <c:valAx>
        <c:axId val="1745181919"/>
        <c:scaling>
          <c:orientation val="minMax"/>
        </c:scaling>
        <c:delete val="1"/>
        <c:axPos val="l"/>
        <c:numFmt formatCode="General" sourceLinked="1"/>
        <c:majorTickMark val="out"/>
        <c:minorTickMark val="none"/>
        <c:tickLblPos val="nextTo"/>
        <c:crossAx val="174518143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dk1">
        <a:lumMod val="75000"/>
        <a:lumOff val="25000"/>
      </a:schemeClr>
    </a:solidFill>
    <a:ln w="6350" cap="flat" cmpd="sng" algn="ctr">
      <a:solidFill>
        <a:schemeClr val="dk1">
          <a:tint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2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gradFill>
        <a:gsLst>
          <a:gs pos="100000">
            <a:schemeClr val="dk1">
              <a:lumMod val="95000"/>
              <a:lumOff val="5000"/>
            </a:schemeClr>
          </a:gs>
          <a:gs pos="0">
            <a:schemeClr val="dk1">
              <a:lumMod val="75000"/>
              <a:lumOff val="25000"/>
            </a:schemeClr>
          </a:gs>
        </a:gsLst>
        <a:path path="circle">
          <a:fillToRect l="50000" t="50000" r="50000" b="50000"/>
        </a:path>
      </a:gradFill>
      <a:ln w="9525">
        <a:solidFill>
          <a:schemeClr val="dk1">
            <a:lumMod val="75000"/>
            <a:lumOff val="25000"/>
          </a:schemeClr>
        </a:solidFill>
      </a:ln>
    </cs:spPr>
  </cs:downBar>
  <cs:dropLine>
    <cs:lnRef idx="0"/>
    <cs:fillRef idx="0"/>
    <cs:effectRef idx="0"/>
    <cs:fontRef idx="minor">
      <a:schemeClr val="tx1"/>
    </cs:fontRef>
    <cs:spPr>
      <a:ln w="9525" cap="flat" cmpd="sng" algn="ctr">
        <a:solidFill>
          <a:schemeClr val="lt1"/>
        </a:solidFill>
        <a:round/>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cap="flat" cmpd="sng" algn="ctr">
        <a:solidFill>
          <a:schemeClr val="lt1"/>
        </a:solidFill>
        <a:round/>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gradFill>
        <a:gsLst>
          <a:gs pos="100000">
            <a:schemeClr val="lt1">
              <a:lumMod val="85000"/>
            </a:schemeClr>
          </a:gs>
          <a:gs pos="0">
            <a:schemeClr val="lt1"/>
          </a:gs>
        </a:gsLst>
        <a:path path="circle">
          <a:fillToRect l="50000" t="50000" r="50000" b="50000"/>
        </a:path>
      </a:gradFill>
      <a:ln w="9525" cap="flat" cmpd="sng" algn="ctr">
        <a:solidFill>
          <a:schemeClr val="lt1"/>
        </a:solidFill>
        <a:round/>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257">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209">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lt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lt1"/>
    </cs:fontRef>
    <cs:spPr>
      <a:ln w="9525">
        <a:solidFill>
          <a:schemeClr val="lt1">
            <a:lumMod val="95000"/>
            <a:alpha val="54000"/>
          </a:schemeClr>
        </a:solidFill>
        <a:prstDash val="dash"/>
      </a:ln>
    </cs:spPr>
  </cs:dropLine>
  <cs:errorBar>
    <cs:lnRef idx="0"/>
    <cs:fillRef idx="0"/>
    <cs:effectRef idx="0"/>
    <cs:fontRef idx="minor">
      <a:schemeClr val="lt1"/>
    </cs:fontRef>
    <cs:spPr>
      <a:ln w="9525" cap="flat" cmpd="sng" algn="ctr">
        <a:solidFill>
          <a:schemeClr val="lt1">
            <a:lumMod val="95000"/>
          </a:schemeClr>
        </a:solidFill>
        <a:round/>
      </a:ln>
    </cs:spPr>
  </cs:errorBar>
  <cs:floor>
    <cs:lnRef idx="0"/>
    <cs:fillRef idx="0"/>
    <cs:effectRef idx="0"/>
    <cs:fontRef idx="minor">
      <a:schemeClr val="lt1"/>
    </cs:fontRef>
  </cs:floor>
  <cs:gridlineMajor>
    <cs:lnRef idx="0"/>
    <cs:fillRef idx="0"/>
    <cs:effectRef idx="0"/>
    <cs:fontRef idx="minor">
      <a:schemeClr val="lt1"/>
    </cs:fontRef>
    <cs:spPr>
      <a:ln w="9525" cap="flat" cmpd="sng" algn="ctr">
        <a:solidFill>
          <a:schemeClr val="lt1">
            <a:lumMod val="95000"/>
            <a:alpha val="10000"/>
          </a:schemeClr>
        </a:solidFill>
        <a:round/>
      </a:ln>
    </cs:spPr>
  </cs:gridlineMajor>
  <cs:gridlineMinor>
    <cs:lnRef idx="0"/>
    <cs:fillRef idx="0"/>
    <cs:effectRef idx="0"/>
    <cs:fontRef idx="minor">
      <a:schemeClr val="lt1"/>
    </cs:fontRef>
    <cs:spPr>
      <a:ln>
        <a:solidFill>
          <a:schemeClr val="lt1">
            <a:lumMod val="95000"/>
            <a:alpha val="5000"/>
          </a:schemeClr>
        </a:solidFill>
      </a:ln>
    </cs:spPr>
  </cs:gridlineMinor>
  <cs:hiLoLine>
    <cs:lnRef idx="0"/>
    <cs:fillRef idx="0"/>
    <cs:effectRef idx="0"/>
    <cs:fontRef idx="minor">
      <a:schemeClr val="lt1"/>
    </cs:fontRef>
    <cs:spPr>
      <a:ln w="9525">
        <a:solidFill>
          <a:schemeClr val="lt1">
            <a:lumMod val="95000"/>
            <a:alpha val="54000"/>
          </a:schemeClr>
        </a:solidFill>
        <a:prstDash val="dash"/>
      </a:ln>
    </cs:spPr>
  </cs:hiLoLine>
  <cs:leaderLine>
    <cs:lnRef idx="0"/>
    <cs:fillRef idx="0"/>
    <cs:effectRef idx="0"/>
    <cs:fontRef idx="minor">
      <a:schemeClr val="lt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lt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lt1"/>
    </cs:fontRef>
  </cs:wall>
</cs:chartStyle>
</file>

<file path=ppt/charts/style4.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5.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8.xml><?xml version="1.0" encoding="utf-8"?>
<cs:chartStyle xmlns:cs="http://schemas.microsoft.com/office/drawing/2012/chartStyle" xmlns:a="http://schemas.openxmlformats.org/drawingml/2006/main" id="291">
  <cs:axisTitle>
    <cs:lnRef idx="0"/>
    <cs:fillRef idx="0"/>
    <cs:effectRef idx="0"/>
    <cs:fontRef idx="minor">
      <a:schemeClr val="lt1">
        <a:lumMod val="75000"/>
      </a:schemeClr>
    </cs:fontRef>
    <cs:defRPr sz="900"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lt1"/>
    </cs:fontRef>
    <cs:spPr>
      <a:solidFill>
        <a:schemeClr val="dk1">
          <a:lumMod val="75000"/>
          <a:lumOff val="25000"/>
        </a:schemeClr>
      </a:solidFill>
      <a:ln w="6350" cap="flat" cmpd="sng" algn="ctr">
        <a:solidFill>
          <a:schemeClr val="dk1">
            <a:tint val="75000"/>
          </a:schemeClr>
        </a:solidFill>
        <a:round/>
      </a:ln>
    </cs:spPr>
    <cs:defRPr sz="1000" kern="1200"/>
  </cs:chartArea>
  <cs:dataLabel>
    <cs:lnRef idx="0"/>
    <cs:fillRef idx="0">
      <cs:styleClr val="auto"/>
    </cs:fillRef>
    <cs:effectRef idx="0"/>
    <cs:fontRef idx="minor">
      <a:schemeClr val="lt1"/>
    </cs:fontRef>
    <cs:spPr>
      <a:solidFill>
        <a:schemeClr val="phClr">
          <a:alpha val="30000"/>
        </a:schemeClr>
      </a:solidFill>
      <a:ln>
        <a:solidFill>
          <a:schemeClr val="lt1">
            <a:alpha val="50000"/>
          </a:schemeClr>
        </a:solidFill>
        <a:round/>
      </a:ln>
      <a:effectLst>
        <a:outerShdw blurRad="63500" dist="88900" dir="2700000" algn="tl" rotWithShape="0">
          <a:prstClr val="black">
            <a:alpha val="40000"/>
          </a:prstClr>
        </a:outerShdw>
      </a:effectLst>
    </cs:spPr>
    <cs:defRPr sz="900" b="1" i="0" u="none" strike="noStrike" kern="1200" baseline="0"/>
  </cs:dataLabel>
  <cs:dataLabelCallout>
    <cs:lnRef idx="0"/>
    <cs:fillRef idx="0">
      <cs:styleClr val="auto"/>
    </cs:fillRef>
    <cs:effectRef idx="0"/>
    <cs:fontRef idx="minor">
      <a:schemeClr val="lt1"/>
    </cs:fontRef>
    <cs:spPr>
      <a:solidFill>
        <a:schemeClr val="phClr">
          <a:alpha val="30000"/>
        </a:schemeClr>
      </a:solidFill>
      <a:ln>
        <a:solidFill>
          <a:schemeClr val="lt1">
            <a:alpha val="50000"/>
          </a:schemeClr>
        </a:solidFill>
        <a:round/>
      </a:ln>
      <a:effectLst>
        <a:outerShdw blurRad="63500" dist="88900" dir="2700000" algn="tl" rotWithShape="0">
          <a:prstClr val="black">
            <a:alpha val="40000"/>
          </a:prstClr>
        </a:outerShdw>
      </a:effectLst>
    </cs:spPr>
    <cs:defRPr sz="900" b="1" i="0" u="none" strike="noStrike" kern="1200" baseline="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tx1"/>
    </cs:fontRef>
    <cs:spPr>
      <a:solidFill>
        <a:schemeClr val="phClr">
          <a:alpha val="88000"/>
        </a:schemeClr>
      </a:solidFill>
      <a:ln>
        <a:solidFill>
          <a:schemeClr val="phClr">
            <a:lumMod val="50000"/>
          </a:schemeClr>
        </a:solidFill>
      </a:ln>
    </cs:spPr>
  </cs:dataPoint>
  <cs:dataPoint3D>
    <cs:lnRef idx="0">
      <cs:styleClr val="auto"/>
    </cs:lnRef>
    <cs:fillRef idx="0">
      <cs:styleClr val="auto"/>
    </cs:fillRef>
    <cs:effectRef idx="0"/>
    <cs:fontRef idx="minor">
      <a:schemeClr val="tx1"/>
    </cs:fontRef>
    <cs:spPr>
      <a:solidFill>
        <a:schemeClr val="phClr">
          <a:alpha val="88000"/>
        </a:schemeClr>
      </a:solidFill>
      <a:ln>
        <a:solidFill>
          <a:schemeClr val="phClr">
            <a:lumMod val="50000"/>
          </a:schemeClr>
        </a:solidFill>
      </a:ln>
      <a:scene3d>
        <a:camera prst="orthographicFront"/>
        <a:lightRig rig="threePt" dir="t"/>
      </a:scene3d>
      <a:sp3d prstMaterial="flat"/>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dk1">
            <a:lumMod val="75000"/>
            <a:lumOff val="25000"/>
          </a:schemeClr>
        </a:solidFill>
      </a:ln>
    </cs:spPr>
  </cs:dataPointMarker>
  <cs:dataPointMarkerLayout symbol="circle" size="6"/>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tx1"/>
    </cs:fontRef>
    <cs:spPr>
      <a:solidFill>
        <a:schemeClr val="bg2">
          <a:lumMod val="75000"/>
          <a:alpha val="27000"/>
        </a:schemeClr>
      </a:solidFill>
      <a:sp3d/>
    </cs:spPr>
  </cs:floor>
  <cs:gridlineMajor>
    <cs:lnRef idx="0"/>
    <cs:fillRef idx="0"/>
    <cs:effectRef idx="0"/>
    <cs:fontRef idx="minor">
      <a:schemeClr val="tx1"/>
    </cs:fontRef>
    <cs:spPr>
      <a:ln w="9525">
        <a:solidFill>
          <a:schemeClr val="lt1">
            <a:lumMod val="50000"/>
          </a:schemeClr>
        </a:solidFill>
      </a:ln>
    </cs:spPr>
  </cs:gridlineMajor>
  <cs:gridlineMinor>
    <cs:lnRef idx="0"/>
    <cs:fillRef idx="0"/>
    <cs:effectRef idx="0"/>
    <cs:fontRef idx="minor">
      <a:schemeClr val="tx1"/>
    </cs:fontRef>
    <cs:spPr>
      <a:ln w="9525">
        <a:solidFill>
          <a:schemeClr val="lt1">
            <a:lumMod val="40000"/>
          </a:schemeClr>
        </a:solidFill>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cs:fontRef>
    <cs:defRPr sz="1800" b="0" kern="1200" cap="all" baseline="0"/>
  </cs:title>
  <cs:trendline>
    <cs:lnRef idx="0">
      <cs:styleClr val="auto"/>
    </cs:lnRef>
    <cs:fillRef idx="0"/>
    <cs:effectRef idx="0"/>
    <cs:fontRef idx="minor">
      <a:schemeClr val="dk1"/>
    </cs:fontRef>
    <cs:spPr>
      <a:ln w="9525"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tx1"/>
    </cs:fontRef>
    <cs:spPr>
      <a:sp3d/>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1705050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327617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1877341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D2F32A34-6AFD-41DA-8CAA-79441812136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42783103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2F32A34-6AFD-41DA-8CAA-79441812136F}" type="datetimeFigureOut">
              <a:rPr lang="en-IN" smtClean="0"/>
              <a:t>28-03-2026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16029272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D2F32A34-6AFD-41DA-8CAA-79441812136F}" type="datetimeFigureOut">
              <a:rPr lang="en-IN" smtClean="0"/>
              <a:t>28-03-2026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2083743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2F32A34-6AFD-41DA-8CAA-79441812136F}" type="datetimeFigureOut">
              <a:rPr lang="en-IN" smtClean="0"/>
              <a:t>28-03-2026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33269709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D2F32A34-6AFD-41DA-8CAA-79441812136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184158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D2F32A34-6AFD-41DA-8CAA-79441812136F}" type="datetimeFigureOut">
              <a:rPr lang="en-IN" smtClean="0"/>
              <a:t>28-03-2026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2411847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2825035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93177685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25365365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487887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21613588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549182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D2F32A34-6AFD-41DA-8CAA-79441812136F}" type="datetimeFigureOut">
              <a:rPr lang="en-IN" smtClean="0"/>
              <a:t>28-03-2026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3BCB46-BCC0-438A-A4E3-0390E92834C1}" type="slidenum">
              <a:rPr lang="en-IN" smtClean="0"/>
              <a:t>‹#›</a:t>
            </a:fld>
            <a:endParaRPr lang="en-IN"/>
          </a:p>
        </p:txBody>
      </p:sp>
    </p:spTree>
    <p:extLst>
      <p:ext uri="{BB962C8B-B14F-4D97-AF65-F5344CB8AC3E}">
        <p14:creationId xmlns:p14="http://schemas.microsoft.com/office/powerpoint/2010/main" val="40444474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2F32A34-6AFD-41DA-8CAA-79441812136F}" type="datetimeFigureOut">
              <a:rPr lang="en-IN" smtClean="0"/>
              <a:t>28-03-2026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103BCB46-BCC0-438A-A4E3-0390E92834C1}" type="slidenum">
              <a:rPr lang="en-IN" smtClean="0"/>
              <a:t>‹#›</a:t>
            </a:fld>
            <a:endParaRPr lang="en-IN"/>
          </a:p>
        </p:txBody>
      </p:sp>
    </p:spTree>
    <p:extLst>
      <p:ext uri="{BB962C8B-B14F-4D97-AF65-F5344CB8AC3E}">
        <p14:creationId xmlns:p14="http://schemas.microsoft.com/office/powerpoint/2010/main" val="41365390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F384C-505F-FFD5-79F1-AD7B6FE068CF}"/>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A8DFC44B-476E-97AF-9CE8-7A9BA63D40B1}"/>
              </a:ext>
            </a:extLst>
          </p:cNvPr>
          <p:cNvSpPr>
            <a:spLocks noGrp="1"/>
          </p:cNvSpPr>
          <p:nvPr>
            <p:ph type="subTitle" idx="1"/>
          </p:nvPr>
        </p:nvSpPr>
        <p:spPr/>
        <p:txBody>
          <a:bodyPr/>
          <a:lstStyle/>
          <a:p>
            <a:endParaRPr lang="en-IN"/>
          </a:p>
        </p:txBody>
      </p:sp>
      <p:pic>
        <p:nvPicPr>
          <p:cNvPr id="7" name="Picture 6">
            <a:extLst>
              <a:ext uri="{FF2B5EF4-FFF2-40B4-BE49-F238E27FC236}">
                <a16:creationId xmlns:a16="http://schemas.microsoft.com/office/drawing/2014/main" id="{FDA780DC-6867-B144-FACB-240793F9B1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3598"/>
            <a:ext cx="12192000" cy="6885195"/>
          </a:xfrm>
          <a:prstGeom prst="rect">
            <a:avLst/>
          </a:prstGeom>
        </p:spPr>
      </p:pic>
    </p:spTree>
    <p:extLst>
      <p:ext uri="{BB962C8B-B14F-4D97-AF65-F5344CB8AC3E}">
        <p14:creationId xmlns:p14="http://schemas.microsoft.com/office/powerpoint/2010/main" val="25452637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52CAD-3D61-1999-7C64-7E9ED0FB4633}"/>
              </a:ext>
            </a:extLst>
          </p:cNvPr>
          <p:cNvSpPr>
            <a:spLocks noGrp="1"/>
          </p:cNvSpPr>
          <p:nvPr>
            <p:ph type="title"/>
          </p:nvPr>
        </p:nvSpPr>
        <p:spPr>
          <a:xfrm>
            <a:off x="677334" y="609600"/>
            <a:ext cx="8596668" cy="823274"/>
          </a:xfrm>
        </p:spPr>
        <p:txBody>
          <a:bodyPr/>
          <a:lstStyle/>
          <a:p>
            <a:r>
              <a:rPr lang="en-IN" dirty="0"/>
              <a:t>Introduction</a:t>
            </a:r>
          </a:p>
        </p:txBody>
      </p:sp>
      <p:sp>
        <p:nvSpPr>
          <p:cNvPr id="3" name="Content Placeholder 2">
            <a:extLst>
              <a:ext uri="{FF2B5EF4-FFF2-40B4-BE49-F238E27FC236}">
                <a16:creationId xmlns:a16="http://schemas.microsoft.com/office/drawing/2014/main" id="{17BF0EA4-7993-56A1-DA6E-9ECF3FE5859E}"/>
              </a:ext>
            </a:extLst>
          </p:cNvPr>
          <p:cNvSpPr>
            <a:spLocks noGrp="1"/>
          </p:cNvSpPr>
          <p:nvPr>
            <p:ph idx="1"/>
          </p:nvPr>
        </p:nvSpPr>
        <p:spPr>
          <a:xfrm>
            <a:off x="677334" y="1725105"/>
            <a:ext cx="8596668" cy="4316257"/>
          </a:xfrm>
        </p:spPr>
        <p:txBody>
          <a:bodyPr/>
          <a:lstStyle/>
          <a:p>
            <a:pPr marL="0" indent="0">
              <a:buNone/>
            </a:pPr>
            <a:r>
              <a:rPr lang="en-IN" dirty="0"/>
              <a:t>Northwind Traders is a global trading company that specializes in supplying a wide range of products to businesses across multiple industries. The company acts as a key intermediary between suppliers and customers, ensuring efficient procurement, distribution, and delivery of goods. With a diverse product portfolio that includes categories such as beverages, dairy products, and condiments. Northwind Traders serves clients across different regions. Its operations focus on maintaining strong supplier relationships, timely order fulfillment, and consistent product quality, making it a reliable partner for businesses worldwide.</a:t>
            </a:r>
          </a:p>
        </p:txBody>
      </p:sp>
    </p:spTree>
    <p:extLst>
      <p:ext uri="{BB962C8B-B14F-4D97-AF65-F5344CB8AC3E}">
        <p14:creationId xmlns:p14="http://schemas.microsoft.com/office/powerpoint/2010/main" val="1084314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00D1C-EBC7-0FFC-D8AB-3E38BD4B90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DC752D1-29CE-3C88-0726-0DACA8A17740}"/>
              </a:ext>
            </a:extLst>
          </p:cNvPr>
          <p:cNvSpPr>
            <a:spLocks noGrp="1"/>
          </p:cNvSpPr>
          <p:nvPr>
            <p:ph type="title"/>
          </p:nvPr>
        </p:nvSpPr>
        <p:spPr>
          <a:xfrm>
            <a:off x="677334" y="609600"/>
            <a:ext cx="8596668" cy="823274"/>
          </a:xfrm>
        </p:spPr>
        <p:txBody>
          <a:bodyPr/>
          <a:lstStyle/>
          <a:p>
            <a:r>
              <a:rPr lang="en-IN" dirty="0"/>
              <a:t>Data Cleaning</a:t>
            </a:r>
          </a:p>
        </p:txBody>
      </p:sp>
      <p:sp>
        <p:nvSpPr>
          <p:cNvPr id="3" name="Content Placeholder 2">
            <a:extLst>
              <a:ext uri="{FF2B5EF4-FFF2-40B4-BE49-F238E27FC236}">
                <a16:creationId xmlns:a16="http://schemas.microsoft.com/office/drawing/2014/main" id="{EC41DD92-B903-B974-564A-E384A536BF19}"/>
              </a:ext>
            </a:extLst>
          </p:cNvPr>
          <p:cNvSpPr>
            <a:spLocks noGrp="1"/>
          </p:cNvSpPr>
          <p:nvPr>
            <p:ph idx="1"/>
          </p:nvPr>
        </p:nvSpPr>
        <p:spPr>
          <a:xfrm>
            <a:off x="677334" y="1725105"/>
            <a:ext cx="8596668" cy="4316257"/>
          </a:xfrm>
        </p:spPr>
        <p:txBody>
          <a:bodyPr/>
          <a:lstStyle/>
          <a:p>
            <a:r>
              <a:rPr lang="en-IN" dirty="0"/>
              <a:t>Missing shipping dates were identified and handled by imputing values using the median shipping duration.</a:t>
            </a:r>
          </a:p>
          <a:p>
            <a:r>
              <a:rPr lang="en-IN" dirty="0"/>
              <a:t>The average was initially considered, but it was slightly higher due to outliers, so the median was chosen for better accuracy.</a:t>
            </a:r>
          </a:p>
          <a:p>
            <a:r>
              <a:rPr lang="en-IN" dirty="0"/>
              <a:t>Data gaps were present but have been addressed during preprocessing.</a:t>
            </a:r>
          </a:p>
          <a:p>
            <a:r>
              <a:rPr lang="en-IN" dirty="0"/>
              <a:t>All other fields were reviewed and found to be consistent, requiring no further cleaning.</a:t>
            </a:r>
          </a:p>
        </p:txBody>
      </p:sp>
    </p:spTree>
    <p:extLst>
      <p:ext uri="{BB962C8B-B14F-4D97-AF65-F5344CB8AC3E}">
        <p14:creationId xmlns:p14="http://schemas.microsoft.com/office/powerpoint/2010/main" val="39644606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857DD-A455-C0E4-75AF-9573D0A6ED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D46DDC-D2AA-1F93-0103-700EE496306B}"/>
              </a:ext>
            </a:extLst>
          </p:cNvPr>
          <p:cNvSpPr>
            <a:spLocks noGrp="1"/>
          </p:cNvSpPr>
          <p:nvPr>
            <p:ph type="title"/>
          </p:nvPr>
        </p:nvSpPr>
        <p:spPr>
          <a:xfrm>
            <a:off x="677334" y="609600"/>
            <a:ext cx="8596668" cy="823274"/>
          </a:xfrm>
        </p:spPr>
        <p:txBody>
          <a:bodyPr/>
          <a:lstStyle/>
          <a:p>
            <a:r>
              <a:rPr lang="en-IN" dirty="0"/>
              <a:t>ERD(Entity Relationship Diagram)</a:t>
            </a:r>
          </a:p>
        </p:txBody>
      </p:sp>
      <p:pic>
        <p:nvPicPr>
          <p:cNvPr id="5" name="Content Placeholder 4">
            <a:extLst>
              <a:ext uri="{FF2B5EF4-FFF2-40B4-BE49-F238E27FC236}">
                <a16:creationId xmlns:a16="http://schemas.microsoft.com/office/drawing/2014/main" id="{819C9817-DAEA-B792-FE30-9BB3ECCD2D16}"/>
              </a:ext>
            </a:extLst>
          </p:cNvPr>
          <p:cNvPicPr>
            <a:picLocks noGrp="1" noChangeAspect="1"/>
          </p:cNvPicPr>
          <p:nvPr>
            <p:ph idx="1"/>
          </p:nvPr>
        </p:nvPicPr>
        <p:blipFill>
          <a:blip r:embed="rId2"/>
          <a:stretch>
            <a:fillRect/>
          </a:stretch>
        </p:blipFill>
        <p:spPr>
          <a:xfrm>
            <a:off x="677334" y="1506256"/>
            <a:ext cx="11024234" cy="4913398"/>
          </a:xfrm>
          <a:prstGeom prst="rect">
            <a:avLst/>
          </a:prstGeom>
        </p:spPr>
      </p:pic>
    </p:spTree>
    <p:extLst>
      <p:ext uri="{BB962C8B-B14F-4D97-AF65-F5344CB8AC3E}">
        <p14:creationId xmlns:p14="http://schemas.microsoft.com/office/powerpoint/2010/main" val="2694286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1D73EA-DB3F-F11D-41B7-77AF7A4823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E570FB-2D10-E762-D901-CCB90576BBF8}"/>
              </a:ext>
            </a:extLst>
          </p:cNvPr>
          <p:cNvSpPr>
            <a:spLocks noGrp="1"/>
          </p:cNvSpPr>
          <p:nvPr>
            <p:ph type="title"/>
          </p:nvPr>
        </p:nvSpPr>
        <p:spPr>
          <a:xfrm>
            <a:off x="677334" y="609600"/>
            <a:ext cx="8596668" cy="823274"/>
          </a:xfrm>
        </p:spPr>
        <p:txBody>
          <a:bodyPr/>
          <a:lstStyle/>
          <a:p>
            <a:r>
              <a:rPr lang="en-IN" dirty="0"/>
              <a:t>High-Value Customers</a:t>
            </a:r>
          </a:p>
        </p:txBody>
      </p:sp>
      <p:sp>
        <p:nvSpPr>
          <p:cNvPr id="6" name="Content Placeholder 5">
            <a:extLst>
              <a:ext uri="{FF2B5EF4-FFF2-40B4-BE49-F238E27FC236}">
                <a16:creationId xmlns:a16="http://schemas.microsoft.com/office/drawing/2014/main" id="{AE83EB07-963C-6242-B56D-27697085FF9F}"/>
              </a:ext>
            </a:extLst>
          </p:cNvPr>
          <p:cNvSpPr>
            <a:spLocks noGrp="1"/>
          </p:cNvSpPr>
          <p:nvPr>
            <p:ph idx="1"/>
          </p:nvPr>
        </p:nvSpPr>
        <p:spPr>
          <a:xfrm>
            <a:off x="677334" y="2160589"/>
            <a:ext cx="4582823" cy="4494735"/>
          </a:xfrm>
        </p:spPr>
        <p:txBody>
          <a:bodyPr/>
          <a:lstStyle/>
          <a:p>
            <a:pPr marL="0" indent="0">
              <a:buNone/>
            </a:pPr>
            <a:r>
              <a:rPr lang="en-IN" dirty="0"/>
              <a:t>A notable segment of customers demonstrates both high value and repeat purchasing </a:t>
            </a:r>
            <a:r>
              <a:rPr lang="en-IN" dirty="0" err="1"/>
              <a:t>behavior</a:t>
            </a:r>
            <a:r>
              <a:rPr lang="en-IN" dirty="0"/>
              <a:t>, contributing significantly to overall revenue. These customers exhibit strong loyalty and consistent engagement, making them a critical driver of business performance. Focusing on retaining and nurturing this segment can further enhance revenue growth and long-term customer relationships.</a:t>
            </a:r>
          </a:p>
        </p:txBody>
      </p:sp>
      <p:graphicFrame>
        <p:nvGraphicFramePr>
          <p:cNvPr id="7" name="Chart 6">
            <a:extLst>
              <a:ext uri="{FF2B5EF4-FFF2-40B4-BE49-F238E27FC236}">
                <a16:creationId xmlns:a16="http://schemas.microsoft.com/office/drawing/2014/main" id="{0E4603D9-5ABE-FB5F-994B-9393E48B7AA6}"/>
              </a:ext>
            </a:extLst>
          </p:cNvPr>
          <p:cNvGraphicFramePr>
            <a:graphicFrameLocks/>
          </p:cNvGraphicFramePr>
          <p:nvPr>
            <p:extLst>
              <p:ext uri="{D42A27DB-BD31-4B8C-83A1-F6EECF244321}">
                <p14:modId xmlns:p14="http://schemas.microsoft.com/office/powerpoint/2010/main" val="3195428129"/>
              </p:ext>
            </p:extLst>
          </p:nvPr>
        </p:nvGraphicFramePr>
        <p:xfrm>
          <a:off x="6685589" y="2066323"/>
          <a:ext cx="4829077" cy="3137274"/>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075613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03118-7395-62BC-B439-F25B652D5F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F62C1-9685-31C3-6DB2-CB0E197038E8}"/>
              </a:ext>
            </a:extLst>
          </p:cNvPr>
          <p:cNvSpPr>
            <a:spLocks noGrp="1"/>
          </p:cNvSpPr>
          <p:nvPr>
            <p:ph type="title"/>
          </p:nvPr>
        </p:nvSpPr>
        <p:spPr>
          <a:xfrm>
            <a:off x="677334" y="609600"/>
            <a:ext cx="8596668" cy="823274"/>
          </a:xfrm>
        </p:spPr>
        <p:txBody>
          <a:bodyPr>
            <a:normAutofit fontScale="90000"/>
          </a:bodyPr>
          <a:lstStyle/>
          <a:p>
            <a:r>
              <a:rPr lang="en-IN" dirty="0"/>
              <a:t>Overall Contributions of Products</a:t>
            </a:r>
            <a:br>
              <a:rPr lang="en-IN" dirty="0"/>
            </a:br>
            <a:br>
              <a:rPr lang="en-IN" dirty="0"/>
            </a:br>
            <a:br>
              <a:rPr lang="en-IN" dirty="0"/>
            </a:br>
            <a:br>
              <a:rPr lang="en-IN" dirty="0"/>
            </a:br>
            <a:br>
              <a:rPr lang="en-IN" dirty="0"/>
            </a:br>
            <a:br>
              <a:rPr lang="en-IN" dirty="0"/>
            </a:br>
            <a:br>
              <a:rPr lang="en-IN" dirty="0"/>
            </a:br>
            <a:br>
              <a:rPr lang="en-IN" dirty="0"/>
            </a:br>
            <a:br>
              <a:rPr lang="en-IN" dirty="0"/>
            </a:br>
            <a:endParaRPr lang="en-IN" dirty="0"/>
          </a:p>
        </p:txBody>
      </p:sp>
      <p:sp>
        <p:nvSpPr>
          <p:cNvPr id="6" name="Content Placeholder 5">
            <a:extLst>
              <a:ext uri="{FF2B5EF4-FFF2-40B4-BE49-F238E27FC236}">
                <a16:creationId xmlns:a16="http://schemas.microsoft.com/office/drawing/2014/main" id="{C1D06907-FCB4-B52A-71E4-DB82B6310CFF}"/>
              </a:ext>
            </a:extLst>
          </p:cNvPr>
          <p:cNvSpPr>
            <a:spLocks noGrp="1"/>
          </p:cNvSpPr>
          <p:nvPr>
            <p:ph idx="1"/>
          </p:nvPr>
        </p:nvSpPr>
        <p:spPr>
          <a:xfrm>
            <a:off x="677334" y="2160589"/>
            <a:ext cx="4582823" cy="4494735"/>
          </a:xfrm>
        </p:spPr>
        <p:txBody>
          <a:bodyPr/>
          <a:lstStyle/>
          <a:p>
            <a:pPr marL="0" indent="0">
              <a:buNone/>
            </a:pPr>
            <a:r>
              <a:rPr lang="en-IN" dirty="0"/>
              <a:t>Revenue is heavily driven by a few top product categories, including Beverages, Condiments, and Meat/Poultry. These categories contribute a significant share of total revenue, indicating a concentration of demand. This suggests that business performance relies strongly on key product segments, highlighting opportunities to further optimize and promote these high-performing categories while exploring growth in others.</a:t>
            </a:r>
          </a:p>
        </p:txBody>
      </p:sp>
      <p:graphicFrame>
        <p:nvGraphicFramePr>
          <p:cNvPr id="3" name="Chart 2">
            <a:extLst>
              <a:ext uri="{FF2B5EF4-FFF2-40B4-BE49-F238E27FC236}">
                <a16:creationId xmlns:a16="http://schemas.microsoft.com/office/drawing/2014/main" id="{C178527A-54A5-5E9D-7E75-4CF2A5DBA063}"/>
              </a:ext>
            </a:extLst>
          </p:cNvPr>
          <p:cNvGraphicFramePr>
            <a:graphicFrameLocks/>
          </p:cNvGraphicFramePr>
          <p:nvPr>
            <p:extLst>
              <p:ext uri="{D42A27DB-BD31-4B8C-83A1-F6EECF244321}">
                <p14:modId xmlns:p14="http://schemas.microsoft.com/office/powerpoint/2010/main" val="4023880434"/>
              </p:ext>
            </p:extLst>
          </p:nvPr>
        </p:nvGraphicFramePr>
        <p:xfrm>
          <a:off x="6535997" y="2160589"/>
          <a:ext cx="5129498" cy="3244981"/>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0654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9D09D-E6C3-04E2-D7D8-C2217F7F93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D09A9-68F9-6CCE-533A-C9C06D55F0F9}"/>
              </a:ext>
            </a:extLst>
          </p:cNvPr>
          <p:cNvSpPr>
            <a:spLocks noGrp="1"/>
          </p:cNvSpPr>
          <p:nvPr>
            <p:ph type="title"/>
          </p:nvPr>
        </p:nvSpPr>
        <p:spPr>
          <a:xfrm>
            <a:off x="677334" y="609600"/>
            <a:ext cx="8596668" cy="823274"/>
          </a:xfrm>
        </p:spPr>
        <p:txBody>
          <a:bodyPr/>
          <a:lstStyle/>
          <a:p>
            <a:r>
              <a:rPr lang="en-IN" dirty="0"/>
              <a:t>Average Purchase Interval</a:t>
            </a:r>
          </a:p>
        </p:txBody>
      </p:sp>
      <p:sp>
        <p:nvSpPr>
          <p:cNvPr id="6" name="Content Placeholder 5">
            <a:extLst>
              <a:ext uri="{FF2B5EF4-FFF2-40B4-BE49-F238E27FC236}">
                <a16:creationId xmlns:a16="http://schemas.microsoft.com/office/drawing/2014/main" id="{AF7708CB-0EF9-3743-5216-E23A6D104DBB}"/>
              </a:ext>
            </a:extLst>
          </p:cNvPr>
          <p:cNvSpPr>
            <a:spLocks noGrp="1"/>
          </p:cNvSpPr>
          <p:nvPr>
            <p:ph idx="1"/>
          </p:nvPr>
        </p:nvSpPr>
        <p:spPr>
          <a:xfrm>
            <a:off x="677334" y="2363265"/>
            <a:ext cx="4582823" cy="4494735"/>
          </a:xfrm>
        </p:spPr>
        <p:txBody>
          <a:bodyPr/>
          <a:lstStyle/>
          <a:p>
            <a:pPr marL="0" indent="0">
              <a:buNone/>
            </a:pPr>
            <a:r>
              <a:rPr lang="en-IN" dirty="0"/>
              <a:t>Purchase frequency varies across countries, with Spain showing the longest repeat purchase interval, followed by Norway. This indicates slower customer re-engagement in these regions compared to others, suggesting potential opportunities to improve retention and increase purchase frequency.</a:t>
            </a:r>
          </a:p>
        </p:txBody>
      </p:sp>
      <p:graphicFrame>
        <p:nvGraphicFramePr>
          <p:cNvPr id="3" name="Chart 2">
            <a:extLst>
              <a:ext uri="{FF2B5EF4-FFF2-40B4-BE49-F238E27FC236}">
                <a16:creationId xmlns:a16="http://schemas.microsoft.com/office/drawing/2014/main" id="{1CE4279A-2E0A-CF1F-ECC6-19319770CA28}"/>
              </a:ext>
            </a:extLst>
          </p:cNvPr>
          <p:cNvGraphicFramePr>
            <a:graphicFrameLocks/>
          </p:cNvGraphicFramePr>
          <p:nvPr>
            <p:extLst>
              <p:ext uri="{D42A27DB-BD31-4B8C-83A1-F6EECF244321}">
                <p14:modId xmlns:p14="http://schemas.microsoft.com/office/powerpoint/2010/main" val="3832412105"/>
              </p:ext>
            </p:extLst>
          </p:nvPr>
        </p:nvGraphicFramePr>
        <p:xfrm>
          <a:off x="6227976" y="2160589"/>
          <a:ext cx="5593080" cy="27432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699106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D10D74-37F2-33E5-26BA-181F40A712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65CD7-7845-04D6-3342-DBED5FACBD55}"/>
              </a:ext>
            </a:extLst>
          </p:cNvPr>
          <p:cNvSpPr>
            <a:spLocks noGrp="1"/>
          </p:cNvSpPr>
          <p:nvPr>
            <p:ph type="title"/>
          </p:nvPr>
        </p:nvSpPr>
        <p:spPr>
          <a:xfrm>
            <a:off x="677334" y="609600"/>
            <a:ext cx="8596668" cy="823274"/>
          </a:xfrm>
        </p:spPr>
        <p:txBody>
          <a:bodyPr/>
          <a:lstStyle/>
          <a:p>
            <a:r>
              <a:rPr lang="en-IN" dirty="0"/>
              <a:t>Distribution of Employees</a:t>
            </a:r>
          </a:p>
        </p:txBody>
      </p:sp>
      <p:sp>
        <p:nvSpPr>
          <p:cNvPr id="6" name="Content Placeholder 5">
            <a:extLst>
              <a:ext uri="{FF2B5EF4-FFF2-40B4-BE49-F238E27FC236}">
                <a16:creationId xmlns:a16="http://schemas.microsoft.com/office/drawing/2014/main" id="{5E0383B7-14F5-0286-78F5-3DB0DCE10EFD}"/>
              </a:ext>
            </a:extLst>
          </p:cNvPr>
          <p:cNvSpPr>
            <a:spLocks noGrp="1"/>
          </p:cNvSpPr>
          <p:nvPr>
            <p:ph idx="1"/>
          </p:nvPr>
        </p:nvSpPr>
        <p:spPr>
          <a:xfrm>
            <a:off x="677334" y="2160589"/>
            <a:ext cx="4582823" cy="4494735"/>
          </a:xfrm>
        </p:spPr>
        <p:txBody>
          <a:bodyPr/>
          <a:lstStyle/>
          <a:p>
            <a:pPr marL="0" indent="0">
              <a:buNone/>
            </a:pPr>
            <a:r>
              <a:rPr lang="en-IN" dirty="0"/>
              <a:t>Sales Representatives form the majority of the workforce across </a:t>
            </a:r>
            <a:r>
              <a:rPr lang="en-IN" dirty="0" err="1"/>
              <a:t>locations.Employee</a:t>
            </a:r>
            <a:r>
              <a:rPr lang="en-IN" dirty="0"/>
              <a:t> distribution is spread across cities in the UK and USA, with key presence in London, Seattle, and </a:t>
            </a:r>
            <a:r>
              <a:rPr lang="en-IN" dirty="0" err="1"/>
              <a:t>Tacoma.Managerial</a:t>
            </a:r>
            <a:r>
              <a:rPr lang="en-IN" dirty="0"/>
              <a:t> roles (Sales Manager, VP) are limited, indicating a lean leadership </a:t>
            </a:r>
            <a:r>
              <a:rPr lang="en-IN" dirty="0" err="1"/>
              <a:t>structure.Support</a:t>
            </a:r>
            <a:r>
              <a:rPr lang="en-IN" dirty="0"/>
              <a:t> roles like Inside Sales Coordinator have minimal representation.</a:t>
            </a:r>
          </a:p>
        </p:txBody>
      </p:sp>
      <p:graphicFrame>
        <p:nvGraphicFramePr>
          <p:cNvPr id="3" name="Chart 2">
            <a:extLst>
              <a:ext uri="{FF2B5EF4-FFF2-40B4-BE49-F238E27FC236}">
                <a16:creationId xmlns:a16="http://schemas.microsoft.com/office/drawing/2014/main" id="{0E281CFE-029E-46D2-1131-E823AE2C8086}"/>
              </a:ext>
            </a:extLst>
          </p:cNvPr>
          <p:cNvGraphicFramePr>
            <a:graphicFrameLocks/>
          </p:cNvGraphicFramePr>
          <p:nvPr>
            <p:extLst>
              <p:ext uri="{D42A27DB-BD31-4B8C-83A1-F6EECF244321}">
                <p14:modId xmlns:p14="http://schemas.microsoft.com/office/powerpoint/2010/main" val="613261800"/>
              </p:ext>
            </p:extLst>
          </p:nvPr>
        </p:nvGraphicFramePr>
        <p:xfrm>
          <a:off x="6171414" y="1967884"/>
          <a:ext cx="5761858" cy="357507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823804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CF864-FF4E-3F4D-7EFB-98CDEBAF08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186EC-8969-9E6A-1143-E5F3BA201E10}"/>
              </a:ext>
            </a:extLst>
          </p:cNvPr>
          <p:cNvSpPr>
            <a:spLocks noGrp="1"/>
          </p:cNvSpPr>
          <p:nvPr>
            <p:ph type="title"/>
          </p:nvPr>
        </p:nvSpPr>
        <p:spPr>
          <a:xfrm>
            <a:off x="677334" y="609600"/>
            <a:ext cx="8596668" cy="823274"/>
          </a:xfrm>
        </p:spPr>
        <p:txBody>
          <a:bodyPr/>
          <a:lstStyle/>
          <a:p>
            <a:r>
              <a:rPr lang="en-IN" dirty="0"/>
              <a:t>Hire Date Trend</a:t>
            </a:r>
          </a:p>
        </p:txBody>
      </p:sp>
      <p:sp>
        <p:nvSpPr>
          <p:cNvPr id="6" name="Content Placeholder 5">
            <a:extLst>
              <a:ext uri="{FF2B5EF4-FFF2-40B4-BE49-F238E27FC236}">
                <a16:creationId xmlns:a16="http://schemas.microsoft.com/office/drawing/2014/main" id="{A0B9EAAC-C3D4-9836-E116-5F9BF8896EC1}"/>
              </a:ext>
            </a:extLst>
          </p:cNvPr>
          <p:cNvSpPr>
            <a:spLocks noGrp="1"/>
          </p:cNvSpPr>
          <p:nvPr>
            <p:ph idx="1"/>
          </p:nvPr>
        </p:nvSpPr>
        <p:spPr>
          <a:xfrm>
            <a:off x="677334" y="2160589"/>
            <a:ext cx="4582823" cy="4494735"/>
          </a:xfrm>
        </p:spPr>
        <p:txBody>
          <a:bodyPr/>
          <a:lstStyle/>
          <a:p>
            <a:pPr marL="0" indent="0">
              <a:buNone/>
            </a:pPr>
            <a:r>
              <a:rPr lang="en-IN" dirty="0"/>
              <a:t>Hiring remains consistent over time, indicating stable and controlled workforce growth. This steady pattern suggests that the organization follows a planned recruitment strategy rather than sudden or reactive hiring. Such consistency reflects operational stability and a balanced approach to scaling the workforce in line with business needs.</a:t>
            </a:r>
          </a:p>
        </p:txBody>
      </p:sp>
      <p:graphicFrame>
        <p:nvGraphicFramePr>
          <p:cNvPr id="3" name="Chart 2">
            <a:extLst>
              <a:ext uri="{FF2B5EF4-FFF2-40B4-BE49-F238E27FC236}">
                <a16:creationId xmlns:a16="http://schemas.microsoft.com/office/drawing/2014/main" id="{2A1C7A16-283F-3F07-1E28-2569AC522714}"/>
              </a:ext>
            </a:extLst>
          </p:cNvPr>
          <p:cNvGraphicFramePr>
            <a:graphicFrameLocks/>
          </p:cNvGraphicFramePr>
          <p:nvPr>
            <p:extLst>
              <p:ext uri="{D42A27DB-BD31-4B8C-83A1-F6EECF244321}">
                <p14:modId xmlns:p14="http://schemas.microsoft.com/office/powerpoint/2010/main" val="2831276076"/>
              </p:ext>
            </p:extLst>
          </p:nvPr>
        </p:nvGraphicFramePr>
        <p:xfrm>
          <a:off x="6096000" y="1961954"/>
          <a:ext cx="5536362" cy="293409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996445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67102-56E7-3EB6-80FD-A7BABF375C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23A0B-7ADC-ADEB-2CD9-2C692696EA3C}"/>
              </a:ext>
            </a:extLst>
          </p:cNvPr>
          <p:cNvSpPr>
            <a:spLocks noGrp="1"/>
          </p:cNvSpPr>
          <p:nvPr>
            <p:ph type="title"/>
          </p:nvPr>
        </p:nvSpPr>
        <p:spPr>
          <a:xfrm>
            <a:off x="677334" y="609600"/>
            <a:ext cx="8596668" cy="823274"/>
          </a:xfrm>
        </p:spPr>
        <p:txBody>
          <a:bodyPr/>
          <a:lstStyle/>
          <a:p>
            <a:r>
              <a:rPr lang="en-IN" dirty="0"/>
              <a:t>Supplier Distribution &amp; Pricing</a:t>
            </a:r>
          </a:p>
        </p:txBody>
      </p:sp>
      <p:sp>
        <p:nvSpPr>
          <p:cNvPr id="6" name="Content Placeholder 5">
            <a:extLst>
              <a:ext uri="{FF2B5EF4-FFF2-40B4-BE49-F238E27FC236}">
                <a16:creationId xmlns:a16="http://schemas.microsoft.com/office/drawing/2014/main" id="{33CE1672-2DAF-664D-D924-7C5D8C815451}"/>
              </a:ext>
            </a:extLst>
          </p:cNvPr>
          <p:cNvSpPr>
            <a:spLocks noGrp="1"/>
          </p:cNvSpPr>
          <p:nvPr>
            <p:ph idx="1"/>
          </p:nvPr>
        </p:nvSpPr>
        <p:spPr>
          <a:xfrm>
            <a:off x="677334" y="2160589"/>
            <a:ext cx="4582823" cy="4494735"/>
          </a:xfrm>
        </p:spPr>
        <p:txBody>
          <a:bodyPr/>
          <a:lstStyle/>
          <a:p>
            <a:pPr marL="0" indent="0">
              <a:buNone/>
            </a:pPr>
            <a:r>
              <a:rPr lang="en-IN" dirty="0"/>
              <a:t>An increase in the number of suppliers is associated with a decrease in average product pricing. This suggests that higher supplier competition leads to more competitive pricing, benefiting cost efficiency. It indicates that supplier diversity can help control prices and improve overall procurement strategy.</a:t>
            </a:r>
          </a:p>
        </p:txBody>
      </p:sp>
      <p:graphicFrame>
        <p:nvGraphicFramePr>
          <p:cNvPr id="3" name="Chart 2">
            <a:extLst>
              <a:ext uri="{FF2B5EF4-FFF2-40B4-BE49-F238E27FC236}">
                <a16:creationId xmlns:a16="http://schemas.microsoft.com/office/drawing/2014/main" id="{E0E57C91-8120-62DD-B2A9-29199927A8CE}"/>
              </a:ext>
            </a:extLst>
          </p:cNvPr>
          <p:cNvGraphicFramePr>
            <a:graphicFrameLocks/>
          </p:cNvGraphicFramePr>
          <p:nvPr>
            <p:extLst>
              <p:ext uri="{D42A27DB-BD31-4B8C-83A1-F6EECF244321}">
                <p14:modId xmlns:p14="http://schemas.microsoft.com/office/powerpoint/2010/main" val="3238842182"/>
              </p:ext>
            </p:extLst>
          </p:nvPr>
        </p:nvGraphicFramePr>
        <p:xfrm>
          <a:off x="6256255" y="2066827"/>
          <a:ext cx="5140751" cy="315562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523633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82547-D934-B66A-D489-E2AE58643B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E69D1-AE1C-9CC4-9AFC-3839029FE032}"/>
              </a:ext>
            </a:extLst>
          </p:cNvPr>
          <p:cNvSpPr>
            <a:spLocks noGrp="1"/>
          </p:cNvSpPr>
          <p:nvPr>
            <p:ph type="title"/>
          </p:nvPr>
        </p:nvSpPr>
        <p:spPr>
          <a:xfrm>
            <a:off x="677334" y="609600"/>
            <a:ext cx="8596668" cy="823274"/>
          </a:xfrm>
        </p:spPr>
        <p:txBody>
          <a:bodyPr/>
          <a:lstStyle/>
          <a:p>
            <a:r>
              <a:rPr lang="en-IN" dirty="0"/>
              <a:t>Multi-Category Suppliers</a:t>
            </a:r>
          </a:p>
        </p:txBody>
      </p:sp>
      <p:sp>
        <p:nvSpPr>
          <p:cNvPr id="6" name="Content Placeholder 5">
            <a:extLst>
              <a:ext uri="{FF2B5EF4-FFF2-40B4-BE49-F238E27FC236}">
                <a16:creationId xmlns:a16="http://schemas.microsoft.com/office/drawing/2014/main" id="{D0190BE9-E09A-9CD3-8AF0-3C63AEA35FCE}"/>
              </a:ext>
            </a:extLst>
          </p:cNvPr>
          <p:cNvSpPr>
            <a:spLocks noGrp="1"/>
          </p:cNvSpPr>
          <p:nvPr>
            <p:ph idx="1"/>
          </p:nvPr>
        </p:nvSpPr>
        <p:spPr>
          <a:xfrm>
            <a:off x="677334" y="2160589"/>
            <a:ext cx="4582823" cy="4494735"/>
          </a:xfrm>
        </p:spPr>
        <p:txBody>
          <a:bodyPr/>
          <a:lstStyle/>
          <a:p>
            <a:pPr marL="0" indent="0">
              <a:buNone/>
            </a:pPr>
            <a:r>
              <a:rPr lang="en-IN" dirty="0"/>
              <a:t>Some suppliers operate across multiple product categories, which contributes to increased product availability and stock levels in the region. This multi-category presence helps ensure better inventory coverage, reduces stockouts, and supports consistent supply across different product segments.</a:t>
            </a:r>
          </a:p>
        </p:txBody>
      </p:sp>
      <p:graphicFrame>
        <p:nvGraphicFramePr>
          <p:cNvPr id="3" name="Chart 2">
            <a:extLst>
              <a:ext uri="{FF2B5EF4-FFF2-40B4-BE49-F238E27FC236}">
                <a16:creationId xmlns:a16="http://schemas.microsoft.com/office/drawing/2014/main" id="{9452E3FC-6C04-48DA-2D4D-167FD462827B}"/>
              </a:ext>
            </a:extLst>
          </p:cNvPr>
          <p:cNvGraphicFramePr>
            <a:graphicFrameLocks/>
          </p:cNvGraphicFramePr>
          <p:nvPr>
            <p:extLst>
              <p:ext uri="{D42A27DB-BD31-4B8C-83A1-F6EECF244321}">
                <p14:modId xmlns:p14="http://schemas.microsoft.com/office/powerpoint/2010/main" val="627691397"/>
              </p:ext>
            </p:extLst>
          </p:nvPr>
        </p:nvGraphicFramePr>
        <p:xfrm>
          <a:off x="5865043" y="1962625"/>
          <a:ext cx="5843048" cy="3231543"/>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29736175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52BCD-4FB0-389B-B385-B5CE79398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7D9CA-EB0B-F32F-4DE1-7E86087064F3}"/>
              </a:ext>
            </a:extLst>
          </p:cNvPr>
          <p:cNvSpPr>
            <a:spLocks noGrp="1"/>
          </p:cNvSpPr>
          <p:nvPr>
            <p:ph type="title"/>
          </p:nvPr>
        </p:nvSpPr>
        <p:spPr>
          <a:xfrm>
            <a:off x="677334" y="609600"/>
            <a:ext cx="8596668" cy="823274"/>
          </a:xfrm>
        </p:spPr>
        <p:txBody>
          <a:bodyPr/>
          <a:lstStyle/>
          <a:p>
            <a:r>
              <a:rPr lang="en-IN" dirty="0"/>
              <a:t>Suppliers Distribution</a:t>
            </a:r>
          </a:p>
        </p:txBody>
      </p:sp>
      <p:sp>
        <p:nvSpPr>
          <p:cNvPr id="6" name="Content Placeholder 5">
            <a:extLst>
              <a:ext uri="{FF2B5EF4-FFF2-40B4-BE49-F238E27FC236}">
                <a16:creationId xmlns:a16="http://schemas.microsoft.com/office/drawing/2014/main" id="{34F2113A-BE9C-8DA5-6DFA-9BF98CFC3A06}"/>
              </a:ext>
            </a:extLst>
          </p:cNvPr>
          <p:cNvSpPr>
            <a:spLocks noGrp="1"/>
          </p:cNvSpPr>
          <p:nvPr>
            <p:ph idx="1"/>
          </p:nvPr>
        </p:nvSpPr>
        <p:spPr>
          <a:xfrm>
            <a:off x="677334" y="2160589"/>
            <a:ext cx="4582823" cy="4494735"/>
          </a:xfrm>
        </p:spPr>
        <p:txBody>
          <a:bodyPr/>
          <a:lstStyle/>
          <a:p>
            <a:pPr marL="0" indent="0">
              <a:buNone/>
            </a:pPr>
            <a:r>
              <a:rPr lang="en-IN" dirty="0"/>
              <a:t>A higher number of suppliers are concentrated around top-selling product categories such as Beverages and Condiments. This indicates strong supplier participation in high-demand segments, ensuring better availability and competitive pricing for these products. It also reflects the market’s focus on popular categories that drive significant sales.</a:t>
            </a:r>
          </a:p>
        </p:txBody>
      </p:sp>
      <p:graphicFrame>
        <p:nvGraphicFramePr>
          <p:cNvPr id="3" name="Chart 2">
            <a:extLst>
              <a:ext uri="{FF2B5EF4-FFF2-40B4-BE49-F238E27FC236}">
                <a16:creationId xmlns:a16="http://schemas.microsoft.com/office/drawing/2014/main" id="{62B4DB36-2555-5B81-103C-69C8C9B89411}"/>
              </a:ext>
            </a:extLst>
          </p:cNvPr>
          <p:cNvGraphicFramePr>
            <a:graphicFrameLocks/>
          </p:cNvGraphicFramePr>
          <p:nvPr>
            <p:extLst>
              <p:ext uri="{D42A27DB-BD31-4B8C-83A1-F6EECF244321}">
                <p14:modId xmlns:p14="http://schemas.microsoft.com/office/powerpoint/2010/main" val="2023995450"/>
              </p:ext>
            </p:extLst>
          </p:nvPr>
        </p:nvGraphicFramePr>
        <p:xfrm>
          <a:off x="5949885" y="2213396"/>
          <a:ext cx="5786486" cy="338612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15650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9D4A9-139E-57F0-00FA-FF45A41265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2ECFED-C1C8-E541-E44F-29B78078715E}"/>
              </a:ext>
            </a:extLst>
          </p:cNvPr>
          <p:cNvSpPr>
            <a:spLocks noGrp="1"/>
          </p:cNvSpPr>
          <p:nvPr>
            <p:ph type="title"/>
          </p:nvPr>
        </p:nvSpPr>
        <p:spPr>
          <a:xfrm>
            <a:off x="677334" y="609600"/>
            <a:ext cx="8596668" cy="823274"/>
          </a:xfrm>
        </p:spPr>
        <p:txBody>
          <a:bodyPr/>
          <a:lstStyle/>
          <a:p>
            <a:r>
              <a:rPr lang="en-IN" dirty="0"/>
              <a:t>Customer Distribution</a:t>
            </a:r>
          </a:p>
        </p:txBody>
      </p:sp>
      <p:sp>
        <p:nvSpPr>
          <p:cNvPr id="6" name="Content Placeholder 5">
            <a:extLst>
              <a:ext uri="{FF2B5EF4-FFF2-40B4-BE49-F238E27FC236}">
                <a16:creationId xmlns:a16="http://schemas.microsoft.com/office/drawing/2014/main" id="{5B8BD8A9-9B1E-67B5-47CC-58A765D626E1}"/>
              </a:ext>
            </a:extLst>
          </p:cNvPr>
          <p:cNvSpPr>
            <a:spLocks noGrp="1"/>
          </p:cNvSpPr>
          <p:nvPr>
            <p:ph idx="1"/>
          </p:nvPr>
        </p:nvSpPr>
        <p:spPr>
          <a:xfrm>
            <a:off x="1969503" y="4788817"/>
            <a:ext cx="7148869" cy="1913642"/>
          </a:xfrm>
        </p:spPr>
        <p:txBody>
          <a:bodyPr/>
          <a:lstStyle/>
          <a:p>
            <a:pPr marL="0" indent="0">
              <a:buNone/>
            </a:pPr>
            <a:r>
              <a:rPr lang="en-IN" dirty="0"/>
              <a:t>Customer distribution is highest across Europe, indicating a broad and widespread presence in the region. However, the USA holds the largest share individually, making it the single biggest contributor to the customer base. This highlights both regional spread in Europe and strong market concentration in the USA.</a:t>
            </a:r>
          </a:p>
        </p:txBody>
      </p:sp>
      <p:pic>
        <p:nvPicPr>
          <p:cNvPr id="7" name="Picture 6">
            <a:extLst>
              <a:ext uri="{FF2B5EF4-FFF2-40B4-BE49-F238E27FC236}">
                <a16:creationId xmlns:a16="http://schemas.microsoft.com/office/drawing/2014/main" id="{7E0B5A73-66EC-3EB9-8E8F-8E9766427253}"/>
              </a:ext>
            </a:extLst>
          </p:cNvPr>
          <p:cNvPicPr>
            <a:picLocks noChangeAspect="1"/>
          </p:cNvPicPr>
          <p:nvPr/>
        </p:nvPicPr>
        <p:blipFill>
          <a:blip r:embed="rId2"/>
          <a:stretch>
            <a:fillRect/>
          </a:stretch>
        </p:blipFill>
        <p:spPr>
          <a:xfrm>
            <a:off x="1969504" y="1662843"/>
            <a:ext cx="6959354" cy="2896004"/>
          </a:xfrm>
          <a:prstGeom prst="rect">
            <a:avLst/>
          </a:prstGeom>
        </p:spPr>
      </p:pic>
    </p:spTree>
    <p:extLst>
      <p:ext uri="{BB962C8B-B14F-4D97-AF65-F5344CB8AC3E}">
        <p14:creationId xmlns:p14="http://schemas.microsoft.com/office/powerpoint/2010/main" val="13636901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E5D1C-990E-3A81-DC10-4CA6A26B7D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62844E-E971-659A-439A-511C93AD8477}"/>
              </a:ext>
            </a:extLst>
          </p:cNvPr>
          <p:cNvSpPr>
            <a:spLocks noGrp="1"/>
          </p:cNvSpPr>
          <p:nvPr>
            <p:ph type="title"/>
          </p:nvPr>
        </p:nvSpPr>
        <p:spPr>
          <a:xfrm>
            <a:off x="677334" y="609600"/>
            <a:ext cx="8596668" cy="823274"/>
          </a:xfrm>
        </p:spPr>
        <p:txBody>
          <a:bodyPr/>
          <a:lstStyle/>
          <a:p>
            <a:r>
              <a:rPr lang="en-IN" dirty="0"/>
              <a:t>Customer Orders Trend</a:t>
            </a:r>
          </a:p>
        </p:txBody>
      </p:sp>
      <p:sp>
        <p:nvSpPr>
          <p:cNvPr id="6" name="Content Placeholder 5">
            <a:extLst>
              <a:ext uri="{FF2B5EF4-FFF2-40B4-BE49-F238E27FC236}">
                <a16:creationId xmlns:a16="http://schemas.microsoft.com/office/drawing/2014/main" id="{09D67B04-3C48-061B-5B73-F495B1E89ED3}"/>
              </a:ext>
            </a:extLst>
          </p:cNvPr>
          <p:cNvSpPr>
            <a:spLocks noGrp="1"/>
          </p:cNvSpPr>
          <p:nvPr>
            <p:ph idx="1"/>
          </p:nvPr>
        </p:nvSpPr>
        <p:spPr>
          <a:xfrm>
            <a:off x="1779429" y="4619134"/>
            <a:ext cx="7853924" cy="2045617"/>
          </a:xfrm>
        </p:spPr>
        <p:txBody>
          <a:bodyPr/>
          <a:lstStyle/>
          <a:p>
            <a:pPr marL="0" indent="0">
              <a:buNone/>
            </a:pPr>
            <a:r>
              <a:rPr lang="en-IN" dirty="0"/>
              <a:t>Customer orders show a gradual upward trend over time, indicating steady growth in demand. A noticeable spike in May 1996 suggests a surge in order activity, possibly driven by end-of-cycle deal closures. This is followed by June 1996, which appears to mark the closing phase of the period, with a slight decline in order volume.</a:t>
            </a:r>
          </a:p>
        </p:txBody>
      </p:sp>
      <p:pic>
        <p:nvPicPr>
          <p:cNvPr id="9" name="Picture 8">
            <a:extLst>
              <a:ext uri="{FF2B5EF4-FFF2-40B4-BE49-F238E27FC236}">
                <a16:creationId xmlns:a16="http://schemas.microsoft.com/office/drawing/2014/main" id="{8E7A32C8-07D1-7786-A7F2-B8750775E448}"/>
              </a:ext>
            </a:extLst>
          </p:cNvPr>
          <p:cNvPicPr>
            <a:picLocks noChangeAspect="1"/>
          </p:cNvPicPr>
          <p:nvPr/>
        </p:nvPicPr>
        <p:blipFill>
          <a:blip r:embed="rId2"/>
          <a:stretch>
            <a:fillRect/>
          </a:stretch>
        </p:blipFill>
        <p:spPr>
          <a:xfrm>
            <a:off x="2110202" y="1735186"/>
            <a:ext cx="7163800" cy="2581635"/>
          </a:xfrm>
          <a:prstGeom prst="rect">
            <a:avLst/>
          </a:prstGeom>
        </p:spPr>
      </p:pic>
    </p:spTree>
    <p:extLst>
      <p:ext uri="{BB962C8B-B14F-4D97-AF65-F5344CB8AC3E}">
        <p14:creationId xmlns:p14="http://schemas.microsoft.com/office/powerpoint/2010/main" val="25096387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146FC-E7F7-B789-3315-5B21B8756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1D08CE-92D7-1DB2-BBE5-2A2642D7D989}"/>
              </a:ext>
            </a:extLst>
          </p:cNvPr>
          <p:cNvSpPr>
            <a:spLocks noGrp="1"/>
          </p:cNvSpPr>
          <p:nvPr>
            <p:ph type="title"/>
          </p:nvPr>
        </p:nvSpPr>
        <p:spPr>
          <a:xfrm>
            <a:off x="677334" y="609600"/>
            <a:ext cx="8596668" cy="823274"/>
          </a:xfrm>
        </p:spPr>
        <p:txBody>
          <a:bodyPr/>
          <a:lstStyle/>
          <a:p>
            <a:r>
              <a:rPr lang="en-IN" dirty="0"/>
              <a:t>Average Shipping Duration</a:t>
            </a:r>
          </a:p>
        </p:txBody>
      </p:sp>
      <p:sp>
        <p:nvSpPr>
          <p:cNvPr id="6" name="Content Placeholder 5">
            <a:extLst>
              <a:ext uri="{FF2B5EF4-FFF2-40B4-BE49-F238E27FC236}">
                <a16:creationId xmlns:a16="http://schemas.microsoft.com/office/drawing/2014/main" id="{A4289F3E-F688-1683-D316-C86CAD895FAA}"/>
              </a:ext>
            </a:extLst>
          </p:cNvPr>
          <p:cNvSpPr>
            <a:spLocks noGrp="1"/>
          </p:cNvSpPr>
          <p:nvPr>
            <p:ph idx="1"/>
          </p:nvPr>
        </p:nvSpPr>
        <p:spPr>
          <a:xfrm>
            <a:off x="1708689" y="5069763"/>
            <a:ext cx="7853924" cy="1536569"/>
          </a:xfrm>
        </p:spPr>
        <p:txBody>
          <a:bodyPr/>
          <a:lstStyle/>
          <a:p>
            <a:pPr marL="0" indent="0">
              <a:buNone/>
            </a:pPr>
            <a:r>
              <a:rPr lang="en-IN" dirty="0"/>
              <a:t>Shipping duration is highest for Walla Walla compared to other cities, indicating relatively slower delivery performance in this location. This may be due to logistical challenges, distance, or operational factors affecting shipment timelines.</a:t>
            </a:r>
          </a:p>
        </p:txBody>
      </p:sp>
      <p:pic>
        <p:nvPicPr>
          <p:cNvPr id="7" name="Picture 6">
            <a:extLst>
              <a:ext uri="{FF2B5EF4-FFF2-40B4-BE49-F238E27FC236}">
                <a16:creationId xmlns:a16="http://schemas.microsoft.com/office/drawing/2014/main" id="{BA7BE9ED-75F8-6B42-6C7B-F679C044455B}"/>
              </a:ext>
            </a:extLst>
          </p:cNvPr>
          <p:cNvPicPr>
            <a:picLocks noChangeAspect="1"/>
          </p:cNvPicPr>
          <p:nvPr/>
        </p:nvPicPr>
        <p:blipFill>
          <a:blip r:embed="rId2"/>
          <a:stretch>
            <a:fillRect/>
          </a:stretch>
        </p:blipFill>
        <p:spPr>
          <a:xfrm>
            <a:off x="2558647" y="1432874"/>
            <a:ext cx="6154009" cy="3581900"/>
          </a:xfrm>
          <a:prstGeom prst="rect">
            <a:avLst/>
          </a:prstGeom>
        </p:spPr>
      </p:pic>
    </p:spTree>
    <p:extLst>
      <p:ext uri="{BB962C8B-B14F-4D97-AF65-F5344CB8AC3E}">
        <p14:creationId xmlns:p14="http://schemas.microsoft.com/office/powerpoint/2010/main" val="31466547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244AB9-E1B1-AD06-E1F6-0C05BC2CBB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0EA99B-A790-EC58-B5C4-C59F4726D6F6}"/>
              </a:ext>
            </a:extLst>
          </p:cNvPr>
          <p:cNvSpPr>
            <a:spLocks noGrp="1"/>
          </p:cNvSpPr>
          <p:nvPr>
            <p:ph type="title"/>
          </p:nvPr>
        </p:nvSpPr>
        <p:spPr>
          <a:xfrm>
            <a:off x="677334" y="609600"/>
            <a:ext cx="8596668" cy="823274"/>
          </a:xfrm>
        </p:spPr>
        <p:txBody>
          <a:bodyPr/>
          <a:lstStyle/>
          <a:p>
            <a:r>
              <a:rPr lang="en-IN" dirty="0"/>
              <a:t>Order Volume over Time</a:t>
            </a:r>
          </a:p>
        </p:txBody>
      </p:sp>
      <p:sp>
        <p:nvSpPr>
          <p:cNvPr id="6" name="Content Placeholder 5">
            <a:extLst>
              <a:ext uri="{FF2B5EF4-FFF2-40B4-BE49-F238E27FC236}">
                <a16:creationId xmlns:a16="http://schemas.microsoft.com/office/drawing/2014/main" id="{ABE34EC1-5CF8-1E66-5C03-76D068442130}"/>
              </a:ext>
            </a:extLst>
          </p:cNvPr>
          <p:cNvSpPr>
            <a:spLocks noGrp="1"/>
          </p:cNvSpPr>
          <p:nvPr>
            <p:ph idx="1"/>
          </p:nvPr>
        </p:nvSpPr>
        <p:spPr>
          <a:xfrm>
            <a:off x="1779429" y="4619134"/>
            <a:ext cx="7853924" cy="2045617"/>
          </a:xfrm>
        </p:spPr>
        <p:txBody>
          <a:bodyPr/>
          <a:lstStyle/>
          <a:p>
            <a:pPr marL="0" indent="0">
              <a:buNone/>
            </a:pPr>
            <a:r>
              <a:rPr lang="en-IN" dirty="0"/>
              <a:t>Order volume reaches its peak in May 1996, likely driven by closing sales and end-of-cycle deal finalizations. This is followed by June 1996, which marks the closing phase of the period, with a slight decline in order activity.</a:t>
            </a:r>
          </a:p>
        </p:txBody>
      </p:sp>
      <p:pic>
        <p:nvPicPr>
          <p:cNvPr id="4" name="Picture 3">
            <a:extLst>
              <a:ext uri="{FF2B5EF4-FFF2-40B4-BE49-F238E27FC236}">
                <a16:creationId xmlns:a16="http://schemas.microsoft.com/office/drawing/2014/main" id="{D0C80F03-870E-DBF1-4594-E239635EA150}"/>
              </a:ext>
            </a:extLst>
          </p:cNvPr>
          <p:cNvPicPr>
            <a:picLocks noChangeAspect="1"/>
          </p:cNvPicPr>
          <p:nvPr/>
        </p:nvPicPr>
        <p:blipFill>
          <a:blip r:embed="rId2"/>
          <a:stretch>
            <a:fillRect/>
          </a:stretch>
        </p:blipFill>
        <p:spPr>
          <a:xfrm>
            <a:off x="2086386" y="1763765"/>
            <a:ext cx="7240010" cy="2524477"/>
          </a:xfrm>
          <a:prstGeom prst="rect">
            <a:avLst/>
          </a:prstGeom>
        </p:spPr>
      </p:pic>
    </p:spTree>
    <p:extLst>
      <p:ext uri="{BB962C8B-B14F-4D97-AF65-F5344CB8AC3E}">
        <p14:creationId xmlns:p14="http://schemas.microsoft.com/office/powerpoint/2010/main" val="4226203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5C917-D20D-1746-9A17-EBF2AC8D53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5844E5-5F9D-F566-42D7-E97E598417B0}"/>
              </a:ext>
            </a:extLst>
          </p:cNvPr>
          <p:cNvSpPr>
            <a:spLocks noGrp="1"/>
          </p:cNvSpPr>
          <p:nvPr>
            <p:ph type="title"/>
          </p:nvPr>
        </p:nvSpPr>
        <p:spPr>
          <a:xfrm>
            <a:off x="677334" y="609600"/>
            <a:ext cx="8596668" cy="823274"/>
          </a:xfrm>
        </p:spPr>
        <p:txBody>
          <a:bodyPr/>
          <a:lstStyle/>
          <a:p>
            <a:r>
              <a:rPr lang="en-IN" dirty="0"/>
              <a:t>Employee Hierarchy</a:t>
            </a:r>
          </a:p>
        </p:txBody>
      </p:sp>
      <p:sp>
        <p:nvSpPr>
          <p:cNvPr id="6" name="Content Placeholder 5">
            <a:extLst>
              <a:ext uri="{FF2B5EF4-FFF2-40B4-BE49-F238E27FC236}">
                <a16:creationId xmlns:a16="http://schemas.microsoft.com/office/drawing/2014/main" id="{1E499032-8ED1-77AD-5C29-18B02BF13570}"/>
              </a:ext>
            </a:extLst>
          </p:cNvPr>
          <p:cNvSpPr>
            <a:spLocks noGrp="1"/>
          </p:cNvSpPr>
          <p:nvPr>
            <p:ph idx="1"/>
          </p:nvPr>
        </p:nvSpPr>
        <p:spPr>
          <a:xfrm>
            <a:off x="1779429" y="4619134"/>
            <a:ext cx="7853924" cy="2045617"/>
          </a:xfrm>
        </p:spPr>
        <p:txBody>
          <a:bodyPr/>
          <a:lstStyle/>
          <a:p>
            <a:pPr marL="0" indent="0">
              <a:buNone/>
            </a:pPr>
            <a:r>
              <a:rPr lang="en-IN" dirty="0"/>
              <a:t>Sales Representatives operate within a mixed reporting hierarchy, reporting either to Sales Managers or directly to the VP. Additionally, Sales Managers report directly to the VP, indicating a layered yet flexible organizational structure.</a:t>
            </a:r>
          </a:p>
        </p:txBody>
      </p:sp>
      <p:pic>
        <p:nvPicPr>
          <p:cNvPr id="4" name="Picture 3">
            <a:extLst>
              <a:ext uri="{FF2B5EF4-FFF2-40B4-BE49-F238E27FC236}">
                <a16:creationId xmlns:a16="http://schemas.microsoft.com/office/drawing/2014/main" id="{7352BF44-45BE-A712-BC4C-C7FC25106518}"/>
              </a:ext>
            </a:extLst>
          </p:cNvPr>
          <p:cNvPicPr>
            <a:picLocks noChangeAspect="1"/>
          </p:cNvPicPr>
          <p:nvPr/>
        </p:nvPicPr>
        <p:blipFill>
          <a:blip r:embed="rId2"/>
          <a:stretch>
            <a:fillRect/>
          </a:stretch>
        </p:blipFill>
        <p:spPr>
          <a:xfrm>
            <a:off x="3081887" y="1759002"/>
            <a:ext cx="5249008" cy="2534004"/>
          </a:xfrm>
          <a:prstGeom prst="rect">
            <a:avLst/>
          </a:prstGeom>
        </p:spPr>
      </p:pic>
    </p:spTree>
    <p:extLst>
      <p:ext uri="{BB962C8B-B14F-4D97-AF65-F5344CB8AC3E}">
        <p14:creationId xmlns:p14="http://schemas.microsoft.com/office/powerpoint/2010/main" val="12121842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6C3D9-A139-3EED-D5B9-3C6095055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612E2-2610-E217-1C84-99A3A21E3363}"/>
              </a:ext>
            </a:extLst>
          </p:cNvPr>
          <p:cNvSpPr>
            <a:spLocks noGrp="1"/>
          </p:cNvSpPr>
          <p:nvPr>
            <p:ph type="title"/>
          </p:nvPr>
        </p:nvSpPr>
        <p:spPr>
          <a:xfrm>
            <a:off x="677334" y="609600"/>
            <a:ext cx="8596668" cy="823274"/>
          </a:xfrm>
        </p:spPr>
        <p:txBody>
          <a:bodyPr/>
          <a:lstStyle/>
          <a:p>
            <a:r>
              <a:rPr lang="en-IN" dirty="0"/>
              <a:t>Product Summary</a:t>
            </a:r>
          </a:p>
        </p:txBody>
      </p:sp>
      <p:sp>
        <p:nvSpPr>
          <p:cNvPr id="6" name="Content Placeholder 5">
            <a:extLst>
              <a:ext uri="{FF2B5EF4-FFF2-40B4-BE49-F238E27FC236}">
                <a16:creationId xmlns:a16="http://schemas.microsoft.com/office/drawing/2014/main" id="{3570AA8B-B35D-2048-F80B-310A5C9F5206}"/>
              </a:ext>
            </a:extLst>
          </p:cNvPr>
          <p:cNvSpPr>
            <a:spLocks noGrp="1"/>
          </p:cNvSpPr>
          <p:nvPr>
            <p:ph idx="1"/>
          </p:nvPr>
        </p:nvSpPr>
        <p:spPr>
          <a:xfrm>
            <a:off x="1788855" y="4852232"/>
            <a:ext cx="7853924" cy="1629266"/>
          </a:xfrm>
        </p:spPr>
        <p:txBody>
          <a:bodyPr/>
          <a:lstStyle/>
          <a:p>
            <a:pPr marL="0" indent="0">
              <a:buNone/>
            </a:pPr>
            <a:r>
              <a:rPr lang="en-IN" dirty="0"/>
              <a:t>Sales volume is highest for products such as Côte de </a:t>
            </a:r>
            <a:r>
              <a:rPr lang="en-IN" dirty="0" err="1"/>
              <a:t>Blaye</a:t>
            </a:r>
            <a:r>
              <a:rPr lang="en-IN" dirty="0"/>
              <a:t>, Thüringer </a:t>
            </a:r>
            <a:r>
              <a:rPr lang="en-IN" dirty="0" err="1"/>
              <a:t>Rostbratwurst</a:t>
            </a:r>
            <a:r>
              <a:rPr lang="en-IN" dirty="0"/>
              <a:t>, and Raclette </a:t>
            </a:r>
            <a:r>
              <a:rPr lang="en-IN" dirty="0" err="1"/>
              <a:t>Courdavault</a:t>
            </a:r>
            <a:r>
              <a:rPr lang="en-IN" dirty="0"/>
              <a:t>, indicating strong customer demand for these items. In contrast, products like </a:t>
            </a:r>
            <a:r>
              <a:rPr lang="en-IN" dirty="0" err="1"/>
              <a:t>Geitost</a:t>
            </a:r>
            <a:r>
              <a:rPr lang="en-IN" dirty="0"/>
              <a:t> and </a:t>
            </a:r>
            <a:r>
              <a:rPr lang="en-IN" dirty="0" err="1"/>
              <a:t>Chocolade</a:t>
            </a:r>
            <a:r>
              <a:rPr lang="en-IN" dirty="0"/>
              <a:t> have the lowest sales volume, reflecting comparatively weaker demand.</a:t>
            </a:r>
          </a:p>
        </p:txBody>
      </p:sp>
      <p:pic>
        <p:nvPicPr>
          <p:cNvPr id="4" name="Picture 3">
            <a:extLst>
              <a:ext uri="{FF2B5EF4-FFF2-40B4-BE49-F238E27FC236}">
                <a16:creationId xmlns:a16="http://schemas.microsoft.com/office/drawing/2014/main" id="{304B17D6-8A08-276D-5AE2-3D0D60F7D546}"/>
              </a:ext>
            </a:extLst>
          </p:cNvPr>
          <p:cNvPicPr>
            <a:picLocks noChangeAspect="1"/>
          </p:cNvPicPr>
          <p:nvPr/>
        </p:nvPicPr>
        <p:blipFill>
          <a:blip r:embed="rId2"/>
          <a:stretch>
            <a:fillRect/>
          </a:stretch>
        </p:blipFill>
        <p:spPr>
          <a:xfrm>
            <a:off x="2915176" y="1665972"/>
            <a:ext cx="5582429" cy="2953162"/>
          </a:xfrm>
          <a:prstGeom prst="rect">
            <a:avLst/>
          </a:prstGeom>
        </p:spPr>
      </p:pic>
    </p:spTree>
    <p:extLst>
      <p:ext uri="{BB962C8B-B14F-4D97-AF65-F5344CB8AC3E}">
        <p14:creationId xmlns:p14="http://schemas.microsoft.com/office/powerpoint/2010/main" val="11476935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6C15A-7343-843C-9294-2C37E94C09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617E21-8991-115A-EF97-7BD9BF876B38}"/>
              </a:ext>
            </a:extLst>
          </p:cNvPr>
          <p:cNvSpPr>
            <a:spLocks noGrp="1"/>
          </p:cNvSpPr>
          <p:nvPr>
            <p:ph type="title"/>
          </p:nvPr>
        </p:nvSpPr>
        <p:spPr>
          <a:xfrm>
            <a:off x="677334" y="609600"/>
            <a:ext cx="8596668" cy="823274"/>
          </a:xfrm>
        </p:spPr>
        <p:txBody>
          <a:bodyPr/>
          <a:lstStyle/>
          <a:p>
            <a:r>
              <a:rPr lang="en-IN" dirty="0"/>
              <a:t>Revenue by Category</a:t>
            </a:r>
          </a:p>
        </p:txBody>
      </p:sp>
      <p:sp>
        <p:nvSpPr>
          <p:cNvPr id="6" name="Content Placeholder 5">
            <a:extLst>
              <a:ext uri="{FF2B5EF4-FFF2-40B4-BE49-F238E27FC236}">
                <a16:creationId xmlns:a16="http://schemas.microsoft.com/office/drawing/2014/main" id="{81ADA8DF-1DAC-0A47-102F-1E7596A5A1F8}"/>
              </a:ext>
            </a:extLst>
          </p:cNvPr>
          <p:cNvSpPr>
            <a:spLocks noGrp="1"/>
          </p:cNvSpPr>
          <p:nvPr>
            <p:ph idx="1"/>
          </p:nvPr>
        </p:nvSpPr>
        <p:spPr>
          <a:xfrm>
            <a:off x="1779429" y="4953785"/>
            <a:ext cx="7853924" cy="1706252"/>
          </a:xfrm>
        </p:spPr>
        <p:txBody>
          <a:bodyPr>
            <a:normAutofit/>
          </a:bodyPr>
          <a:lstStyle/>
          <a:p>
            <a:pPr marL="0" indent="0">
              <a:buNone/>
            </a:pPr>
            <a:r>
              <a:rPr lang="en-IN" dirty="0"/>
              <a:t>Beverages, Condiments, and Dairy Products are the top revenue-generating categories, contributing significantly to overall sales. This indicates strong customer demand and consistent performance within these categories, making them key drivers of business revenue.</a:t>
            </a:r>
          </a:p>
        </p:txBody>
      </p:sp>
      <p:pic>
        <p:nvPicPr>
          <p:cNvPr id="4" name="Picture 3">
            <a:extLst>
              <a:ext uri="{FF2B5EF4-FFF2-40B4-BE49-F238E27FC236}">
                <a16:creationId xmlns:a16="http://schemas.microsoft.com/office/drawing/2014/main" id="{DD86197F-C7E6-0D7B-3198-E71776FD33E5}"/>
              </a:ext>
            </a:extLst>
          </p:cNvPr>
          <p:cNvPicPr>
            <a:picLocks noChangeAspect="1"/>
          </p:cNvPicPr>
          <p:nvPr/>
        </p:nvPicPr>
        <p:blipFill>
          <a:blip r:embed="rId2"/>
          <a:stretch>
            <a:fillRect/>
          </a:stretch>
        </p:blipFill>
        <p:spPr>
          <a:xfrm>
            <a:off x="1679639" y="1432874"/>
            <a:ext cx="7506748" cy="3324689"/>
          </a:xfrm>
          <a:prstGeom prst="rect">
            <a:avLst/>
          </a:prstGeom>
        </p:spPr>
      </p:pic>
    </p:spTree>
    <p:extLst>
      <p:ext uri="{BB962C8B-B14F-4D97-AF65-F5344CB8AC3E}">
        <p14:creationId xmlns:p14="http://schemas.microsoft.com/office/powerpoint/2010/main" val="2213683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C1167-FD2F-1B8A-FB73-BCD17DD479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99C3B1-A389-1943-EE70-1597C0C2C3AF}"/>
              </a:ext>
            </a:extLst>
          </p:cNvPr>
          <p:cNvSpPr>
            <a:spLocks noGrp="1"/>
          </p:cNvSpPr>
          <p:nvPr>
            <p:ph type="title"/>
          </p:nvPr>
        </p:nvSpPr>
        <p:spPr>
          <a:xfrm>
            <a:off x="677334" y="609600"/>
            <a:ext cx="8596668" cy="823274"/>
          </a:xfrm>
        </p:spPr>
        <p:txBody>
          <a:bodyPr/>
          <a:lstStyle/>
          <a:p>
            <a:r>
              <a:rPr lang="en-IN" dirty="0"/>
              <a:t>Premium Customers</a:t>
            </a:r>
          </a:p>
        </p:txBody>
      </p:sp>
      <p:sp>
        <p:nvSpPr>
          <p:cNvPr id="6" name="Content Placeholder 5">
            <a:extLst>
              <a:ext uri="{FF2B5EF4-FFF2-40B4-BE49-F238E27FC236}">
                <a16:creationId xmlns:a16="http://schemas.microsoft.com/office/drawing/2014/main" id="{210217C5-5E4A-283F-45A4-C7806647EA23}"/>
              </a:ext>
            </a:extLst>
          </p:cNvPr>
          <p:cNvSpPr>
            <a:spLocks noGrp="1"/>
          </p:cNvSpPr>
          <p:nvPr>
            <p:ph idx="1"/>
          </p:nvPr>
        </p:nvSpPr>
        <p:spPr>
          <a:xfrm>
            <a:off x="1845417" y="4991493"/>
            <a:ext cx="7853924" cy="1866507"/>
          </a:xfrm>
        </p:spPr>
        <p:txBody>
          <a:bodyPr/>
          <a:lstStyle/>
          <a:p>
            <a:pPr marL="0" indent="0">
              <a:buNone/>
            </a:pPr>
            <a:r>
              <a:rPr lang="en-IN" dirty="0"/>
              <a:t>Premium customers include Quick-Stop, Ernst Handel, and Save-A-Lot Markets, indicating that these clients contribute high value through frequent and/or high-volume purchases. These customers play a key role in driving overall revenue and business performance.</a:t>
            </a:r>
          </a:p>
        </p:txBody>
      </p:sp>
      <p:pic>
        <p:nvPicPr>
          <p:cNvPr id="5" name="Picture 4">
            <a:extLst>
              <a:ext uri="{FF2B5EF4-FFF2-40B4-BE49-F238E27FC236}">
                <a16:creationId xmlns:a16="http://schemas.microsoft.com/office/drawing/2014/main" id="{83052108-58BD-6C5D-3D99-ACC642C1AB3A}"/>
              </a:ext>
            </a:extLst>
          </p:cNvPr>
          <p:cNvPicPr>
            <a:picLocks noChangeAspect="1"/>
          </p:cNvPicPr>
          <p:nvPr/>
        </p:nvPicPr>
        <p:blipFill>
          <a:blip r:embed="rId2"/>
          <a:stretch>
            <a:fillRect/>
          </a:stretch>
        </p:blipFill>
        <p:spPr>
          <a:xfrm>
            <a:off x="2028968" y="1578816"/>
            <a:ext cx="7097115" cy="3191320"/>
          </a:xfrm>
          <a:prstGeom prst="rect">
            <a:avLst/>
          </a:prstGeom>
        </p:spPr>
      </p:pic>
    </p:spTree>
    <p:extLst>
      <p:ext uri="{BB962C8B-B14F-4D97-AF65-F5344CB8AC3E}">
        <p14:creationId xmlns:p14="http://schemas.microsoft.com/office/powerpoint/2010/main" val="1637935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CF04E-7DCD-1509-1940-97F9900A53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129C56-0C39-A4E6-8A28-27F86900C77A}"/>
              </a:ext>
            </a:extLst>
          </p:cNvPr>
          <p:cNvSpPr>
            <a:spLocks noGrp="1"/>
          </p:cNvSpPr>
          <p:nvPr>
            <p:ph type="title"/>
          </p:nvPr>
        </p:nvSpPr>
        <p:spPr>
          <a:xfrm>
            <a:off x="677334" y="609600"/>
            <a:ext cx="8596668" cy="823274"/>
          </a:xfrm>
        </p:spPr>
        <p:txBody>
          <a:bodyPr/>
          <a:lstStyle/>
          <a:p>
            <a:r>
              <a:rPr lang="en-IN" dirty="0"/>
              <a:t>Available Inventory Units</a:t>
            </a:r>
          </a:p>
        </p:txBody>
      </p:sp>
      <p:sp>
        <p:nvSpPr>
          <p:cNvPr id="6" name="Content Placeholder 5">
            <a:extLst>
              <a:ext uri="{FF2B5EF4-FFF2-40B4-BE49-F238E27FC236}">
                <a16:creationId xmlns:a16="http://schemas.microsoft.com/office/drawing/2014/main" id="{CB638F84-7F2A-E8A1-F601-A52EB1269508}"/>
              </a:ext>
            </a:extLst>
          </p:cNvPr>
          <p:cNvSpPr>
            <a:spLocks noGrp="1"/>
          </p:cNvSpPr>
          <p:nvPr>
            <p:ph idx="1"/>
          </p:nvPr>
        </p:nvSpPr>
        <p:spPr>
          <a:xfrm>
            <a:off x="1911404" y="4817097"/>
            <a:ext cx="7853924" cy="1838227"/>
          </a:xfrm>
        </p:spPr>
        <p:txBody>
          <a:bodyPr/>
          <a:lstStyle/>
          <a:p>
            <a:pPr marL="0" indent="0">
              <a:buNone/>
            </a:pPr>
            <a:r>
              <a:rPr lang="en-IN" dirty="0"/>
              <a:t>Units in stock are highest for products such as </a:t>
            </a:r>
            <a:r>
              <a:rPr lang="en-IN" dirty="0" err="1"/>
              <a:t>Rhönbräu</a:t>
            </a:r>
            <a:r>
              <a:rPr lang="en-IN" dirty="0"/>
              <a:t> </a:t>
            </a:r>
            <a:r>
              <a:rPr lang="en-IN" dirty="0" err="1"/>
              <a:t>Klosterbier</a:t>
            </a:r>
            <a:r>
              <a:rPr lang="en-IN" dirty="0"/>
              <a:t> and Boston Crab Meat, along with several other items maintaining high inventory levels. This indicates strong stocking for key products, possibly to meet consistent demand or ensure availability.</a:t>
            </a:r>
          </a:p>
        </p:txBody>
      </p:sp>
      <p:pic>
        <p:nvPicPr>
          <p:cNvPr id="5" name="Picture 4">
            <a:extLst>
              <a:ext uri="{FF2B5EF4-FFF2-40B4-BE49-F238E27FC236}">
                <a16:creationId xmlns:a16="http://schemas.microsoft.com/office/drawing/2014/main" id="{D626F810-26A5-B3B6-76DA-CE1083F9A15A}"/>
              </a:ext>
            </a:extLst>
          </p:cNvPr>
          <p:cNvPicPr>
            <a:picLocks noChangeAspect="1"/>
          </p:cNvPicPr>
          <p:nvPr/>
        </p:nvPicPr>
        <p:blipFill>
          <a:blip r:embed="rId2"/>
          <a:stretch>
            <a:fillRect/>
          </a:stretch>
        </p:blipFill>
        <p:spPr>
          <a:xfrm>
            <a:off x="2164612" y="1432874"/>
            <a:ext cx="7297168" cy="3267531"/>
          </a:xfrm>
          <a:prstGeom prst="rect">
            <a:avLst/>
          </a:prstGeom>
        </p:spPr>
      </p:pic>
    </p:spTree>
    <p:extLst>
      <p:ext uri="{BB962C8B-B14F-4D97-AF65-F5344CB8AC3E}">
        <p14:creationId xmlns:p14="http://schemas.microsoft.com/office/powerpoint/2010/main" val="33064305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D9167-7CF3-3FE7-DC54-B8AF20EEB7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FBB4E-1608-7FED-9B2A-FA907A27AF37}"/>
              </a:ext>
            </a:extLst>
          </p:cNvPr>
          <p:cNvSpPr>
            <a:spLocks noGrp="1"/>
          </p:cNvSpPr>
          <p:nvPr>
            <p:ph type="title"/>
          </p:nvPr>
        </p:nvSpPr>
        <p:spPr>
          <a:xfrm>
            <a:off x="677334" y="609600"/>
            <a:ext cx="8596668" cy="823274"/>
          </a:xfrm>
        </p:spPr>
        <p:txBody>
          <a:bodyPr/>
          <a:lstStyle/>
          <a:p>
            <a:r>
              <a:rPr lang="en-IN" dirty="0"/>
              <a:t>Pending Order Quantity</a:t>
            </a:r>
          </a:p>
        </p:txBody>
      </p:sp>
      <p:sp>
        <p:nvSpPr>
          <p:cNvPr id="6" name="Content Placeholder 5">
            <a:extLst>
              <a:ext uri="{FF2B5EF4-FFF2-40B4-BE49-F238E27FC236}">
                <a16:creationId xmlns:a16="http://schemas.microsoft.com/office/drawing/2014/main" id="{179204A0-A511-CF1F-81E8-2284B62B344E}"/>
              </a:ext>
            </a:extLst>
          </p:cNvPr>
          <p:cNvSpPr>
            <a:spLocks noGrp="1"/>
          </p:cNvSpPr>
          <p:nvPr>
            <p:ph idx="1"/>
          </p:nvPr>
        </p:nvSpPr>
        <p:spPr>
          <a:xfrm>
            <a:off x="1779429" y="4619134"/>
            <a:ext cx="7853924" cy="2045617"/>
          </a:xfrm>
        </p:spPr>
        <p:txBody>
          <a:bodyPr/>
          <a:lstStyle/>
          <a:p>
            <a:pPr marL="0" indent="0">
              <a:buNone/>
            </a:pPr>
            <a:r>
              <a:rPr lang="en-IN" dirty="0"/>
              <a:t>Pending order quantities are highest for products such as Louisiana and Wimmers, indicating higher unmet demand or delayed fulfillment for these items. Other products show comparatively lower pending quantities, suggesting better order fulfillment or lower demand.</a:t>
            </a:r>
          </a:p>
        </p:txBody>
      </p:sp>
      <p:pic>
        <p:nvPicPr>
          <p:cNvPr id="8" name="Picture 7">
            <a:extLst>
              <a:ext uri="{FF2B5EF4-FFF2-40B4-BE49-F238E27FC236}">
                <a16:creationId xmlns:a16="http://schemas.microsoft.com/office/drawing/2014/main" id="{59BDEE30-FA02-CA36-78C1-D8878074E0C4}"/>
              </a:ext>
            </a:extLst>
          </p:cNvPr>
          <p:cNvPicPr>
            <a:picLocks noChangeAspect="1"/>
          </p:cNvPicPr>
          <p:nvPr/>
        </p:nvPicPr>
        <p:blipFill>
          <a:blip r:embed="rId2"/>
          <a:stretch>
            <a:fillRect/>
          </a:stretch>
        </p:blipFill>
        <p:spPr>
          <a:xfrm>
            <a:off x="1995725" y="1773291"/>
            <a:ext cx="7144747" cy="2505425"/>
          </a:xfrm>
          <a:prstGeom prst="rect">
            <a:avLst/>
          </a:prstGeom>
        </p:spPr>
      </p:pic>
    </p:spTree>
    <p:extLst>
      <p:ext uri="{BB962C8B-B14F-4D97-AF65-F5344CB8AC3E}">
        <p14:creationId xmlns:p14="http://schemas.microsoft.com/office/powerpoint/2010/main" val="2626513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EE169-3F4E-CA17-235C-407A02FD72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C8110-1247-7C10-6B69-BD40529DF9E0}"/>
              </a:ext>
            </a:extLst>
          </p:cNvPr>
          <p:cNvSpPr>
            <a:spLocks noGrp="1"/>
          </p:cNvSpPr>
          <p:nvPr>
            <p:ph type="title"/>
          </p:nvPr>
        </p:nvSpPr>
        <p:spPr>
          <a:xfrm>
            <a:off x="677334" y="609600"/>
            <a:ext cx="8596668" cy="823274"/>
          </a:xfrm>
        </p:spPr>
        <p:txBody>
          <a:bodyPr/>
          <a:lstStyle/>
          <a:p>
            <a:r>
              <a:rPr lang="en-IN" dirty="0"/>
              <a:t>Shipper Revenue</a:t>
            </a:r>
          </a:p>
        </p:txBody>
      </p:sp>
      <p:sp>
        <p:nvSpPr>
          <p:cNvPr id="6" name="Content Placeholder 5">
            <a:extLst>
              <a:ext uri="{FF2B5EF4-FFF2-40B4-BE49-F238E27FC236}">
                <a16:creationId xmlns:a16="http://schemas.microsoft.com/office/drawing/2014/main" id="{45D32A43-AAD0-BB5C-2EEB-9113255177DB}"/>
              </a:ext>
            </a:extLst>
          </p:cNvPr>
          <p:cNvSpPr>
            <a:spLocks noGrp="1"/>
          </p:cNvSpPr>
          <p:nvPr>
            <p:ph idx="1"/>
          </p:nvPr>
        </p:nvSpPr>
        <p:spPr>
          <a:xfrm>
            <a:off x="1779429" y="4619134"/>
            <a:ext cx="7853924" cy="2045617"/>
          </a:xfrm>
        </p:spPr>
        <p:txBody>
          <a:bodyPr/>
          <a:lstStyle/>
          <a:p>
            <a:pPr marL="0" indent="0">
              <a:buNone/>
            </a:pPr>
            <a:r>
              <a:rPr lang="en-IN" dirty="0"/>
              <a:t>Shipper revenue is highest for United Package, followed by Federal Shipping, while Speedy Express contributes the least. This indicates that United Package handles a larger share of high-value shipments, making it the top-performing shipper.</a:t>
            </a:r>
          </a:p>
        </p:txBody>
      </p:sp>
      <p:pic>
        <p:nvPicPr>
          <p:cNvPr id="4" name="Picture 3">
            <a:extLst>
              <a:ext uri="{FF2B5EF4-FFF2-40B4-BE49-F238E27FC236}">
                <a16:creationId xmlns:a16="http://schemas.microsoft.com/office/drawing/2014/main" id="{FEEF3BCC-890E-8C91-CB52-004E5DE9FCA6}"/>
              </a:ext>
            </a:extLst>
          </p:cNvPr>
          <p:cNvPicPr>
            <a:picLocks noChangeAspect="1"/>
          </p:cNvPicPr>
          <p:nvPr/>
        </p:nvPicPr>
        <p:blipFill>
          <a:blip r:embed="rId2"/>
          <a:stretch>
            <a:fillRect/>
          </a:stretch>
        </p:blipFill>
        <p:spPr>
          <a:xfrm>
            <a:off x="2457912" y="1989045"/>
            <a:ext cx="6496957" cy="2257740"/>
          </a:xfrm>
          <a:prstGeom prst="rect">
            <a:avLst/>
          </a:prstGeom>
        </p:spPr>
      </p:pic>
    </p:spTree>
    <p:extLst>
      <p:ext uri="{BB962C8B-B14F-4D97-AF65-F5344CB8AC3E}">
        <p14:creationId xmlns:p14="http://schemas.microsoft.com/office/powerpoint/2010/main" val="111559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6B113F-BF30-9057-7388-37FF17FC18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DA66D1-6AD7-0EF9-7F40-C350864851C1}"/>
              </a:ext>
            </a:extLst>
          </p:cNvPr>
          <p:cNvSpPr>
            <a:spLocks noGrp="1"/>
          </p:cNvSpPr>
          <p:nvPr>
            <p:ph type="title"/>
          </p:nvPr>
        </p:nvSpPr>
        <p:spPr>
          <a:xfrm>
            <a:off x="677334" y="609600"/>
            <a:ext cx="8596668" cy="823274"/>
          </a:xfrm>
        </p:spPr>
        <p:txBody>
          <a:bodyPr/>
          <a:lstStyle/>
          <a:p>
            <a:r>
              <a:rPr lang="en-IN" dirty="0"/>
              <a:t>Order Volume by Shipper</a:t>
            </a:r>
          </a:p>
        </p:txBody>
      </p:sp>
      <p:sp>
        <p:nvSpPr>
          <p:cNvPr id="6" name="Content Placeholder 5">
            <a:extLst>
              <a:ext uri="{FF2B5EF4-FFF2-40B4-BE49-F238E27FC236}">
                <a16:creationId xmlns:a16="http://schemas.microsoft.com/office/drawing/2014/main" id="{99D970FF-7468-117F-5BE5-7DC57BF94EDD}"/>
              </a:ext>
            </a:extLst>
          </p:cNvPr>
          <p:cNvSpPr>
            <a:spLocks noGrp="1"/>
          </p:cNvSpPr>
          <p:nvPr>
            <p:ph idx="1"/>
          </p:nvPr>
        </p:nvSpPr>
        <p:spPr>
          <a:xfrm>
            <a:off x="1779429" y="4619134"/>
            <a:ext cx="7853924" cy="2045617"/>
          </a:xfrm>
        </p:spPr>
        <p:txBody>
          <a:bodyPr/>
          <a:lstStyle/>
          <a:p>
            <a:pPr marL="0" indent="0">
              <a:buNone/>
            </a:pPr>
            <a:r>
              <a:rPr lang="en-IN" dirty="0"/>
              <a:t>Order volume is highest for United Package, indicating it handles the majority of shipments. Federal Shipping and Speedy Express have nearly equal order volumes, showing a balanced distribution between these two shippers.</a:t>
            </a:r>
          </a:p>
        </p:txBody>
      </p:sp>
      <p:pic>
        <p:nvPicPr>
          <p:cNvPr id="4" name="Picture 3">
            <a:extLst>
              <a:ext uri="{FF2B5EF4-FFF2-40B4-BE49-F238E27FC236}">
                <a16:creationId xmlns:a16="http://schemas.microsoft.com/office/drawing/2014/main" id="{A5FD7609-770C-B8FC-3418-DA4D0D45D36C}"/>
              </a:ext>
            </a:extLst>
          </p:cNvPr>
          <p:cNvPicPr>
            <a:picLocks noChangeAspect="1"/>
          </p:cNvPicPr>
          <p:nvPr/>
        </p:nvPicPr>
        <p:blipFill>
          <a:blip r:embed="rId2"/>
          <a:stretch>
            <a:fillRect/>
          </a:stretch>
        </p:blipFill>
        <p:spPr>
          <a:xfrm>
            <a:off x="2010413" y="1701844"/>
            <a:ext cx="7039957" cy="2648320"/>
          </a:xfrm>
          <a:prstGeom prst="rect">
            <a:avLst/>
          </a:prstGeom>
        </p:spPr>
      </p:pic>
    </p:spTree>
    <p:extLst>
      <p:ext uri="{BB962C8B-B14F-4D97-AF65-F5344CB8AC3E}">
        <p14:creationId xmlns:p14="http://schemas.microsoft.com/office/powerpoint/2010/main" val="24947855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09C01-C31A-BDED-0F0E-9741E9104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5CA2A-9CBC-C7AA-0AE4-7709FBEB99DD}"/>
              </a:ext>
            </a:extLst>
          </p:cNvPr>
          <p:cNvSpPr>
            <a:spLocks noGrp="1"/>
          </p:cNvSpPr>
          <p:nvPr>
            <p:ph type="title"/>
          </p:nvPr>
        </p:nvSpPr>
        <p:spPr>
          <a:xfrm>
            <a:off x="677334" y="609600"/>
            <a:ext cx="8596668" cy="823274"/>
          </a:xfrm>
        </p:spPr>
        <p:txBody>
          <a:bodyPr/>
          <a:lstStyle/>
          <a:p>
            <a:r>
              <a:rPr lang="en-IN" dirty="0"/>
              <a:t>Average Shipping Distribution</a:t>
            </a:r>
          </a:p>
        </p:txBody>
      </p:sp>
      <p:sp>
        <p:nvSpPr>
          <p:cNvPr id="6" name="Content Placeholder 5">
            <a:extLst>
              <a:ext uri="{FF2B5EF4-FFF2-40B4-BE49-F238E27FC236}">
                <a16:creationId xmlns:a16="http://schemas.microsoft.com/office/drawing/2014/main" id="{C6188E32-3E0B-9E5B-02FD-15FAD5FAC540}"/>
              </a:ext>
            </a:extLst>
          </p:cNvPr>
          <p:cNvSpPr>
            <a:spLocks noGrp="1"/>
          </p:cNvSpPr>
          <p:nvPr>
            <p:ph idx="1"/>
          </p:nvPr>
        </p:nvSpPr>
        <p:spPr>
          <a:xfrm>
            <a:off x="1779429" y="4619134"/>
            <a:ext cx="7853924" cy="2045617"/>
          </a:xfrm>
        </p:spPr>
        <p:txBody>
          <a:bodyPr/>
          <a:lstStyle/>
          <a:p>
            <a:pPr marL="0" indent="0">
              <a:buNone/>
            </a:pPr>
            <a:r>
              <a:rPr lang="en-IN" dirty="0"/>
              <a:t>Average shipping duration is highest for United Package, followed by Speedy Express, while Federal Shipping has the lowest. This suggests relatively slower delivery performance for United Package compared to the others.</a:t>
            </a:r>
          </a:p>
        </p:txBody>
      </p:sp>
      <p:pic>
        <p:nvPicPr>
          <p:cNvPr id="4" name="Picture 3">
            <a:extLst>
              <a:ext uri="{FF2B5EF4-FFF2-40B4-BE49-F238E27FC236}">
                <a16:creationId xmlns:a16="http://schemas.microsoft.com/office/drawing/2014/main" id="{5B13F991-4C9D-1027-CDF9-984C813BD0F0}"/>
              </a:ext>
            </a:extLst>
          </p:cNvPr>
          <p:cNvPicPr>
            <a:picLocks noChangeAspect="1"/>
          </p:cNvPicPr>
          <p:nvPr/>
        </p:nvPicPr>
        <p:blipFill>
          <a:blip r:embed="rId2"/>
          <a:stretch>
            <a:fillRect/>
          </a:stretch>
        </p:blipFill>
        <p:spPr>
          <a:xfrm>
            <a:off x="2262623" y="1711370"/>
            <a:ext cx="6887536" cy="2629267"/>
          </a:xfrm>
          <a:prstGeom prst="rect">
            <a:avLst/>
          </a:prstGeom>
        </p:spPr>
      </p:pic>
    </p:spTree>
    <p:extLst>
      <p:ext uri="{BB962C8B-B14F-4D97-AF65-F5344CB8AC3E}">
        <p14:creationId xmlns:p14="http://schemas.microsoft.com/office/powerpoint/2010/main" val="1954145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C4F4A2-28A0-5B38-885E-19E4F669B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FF0011-F9D7-ADA8-D90C-C4B230176B4E}"/>
              </a:ext>
            </a:extLst>
          </p:cNvPr>
          <p:cNvSpPr>
            <a:spLocks noGrp="1"/>
          </p:cNvSpPr>
          <p:nvPr>
            <p:ph type="title"/>
          </p:nvPr>
        </p:nvSpPr>
        <p:spPr>
          <a:xfrm>
            <a:off x="677334" y="609600"/>
            <a:ext cx="8596668" cy="823274"/>
          </a:xfrm>
        </p:spPr>
        <p:txBody>
          <a:bodyPr/>
          <a:lstStyle/>
          <a:p>
            <a:r>
              <a:rPr lang="en-IN" dirty="0"/>
              <a:t>City wise Delivery Duration</a:t>
            </a:r>
          </a:p>
        </p:txBody>
      </p:sp>
      <p:sp>
        <p:nvSpPr>
          <p:cNvPr id="6" name="Content Placeholder 5">
            <a:extLst>
              <a:ext uri="{FF2B5EF4-FFF2-40B4-BE49-F238E27FC236}">
                <a16:creationId xmlns:a16="http://schemas.microsoft.com/office/drawing/2014/main" id="{974E5289-4464-3854-E808-14EB6437E9AC}"/>
              </a:ext>
            </a:extLst>
          </p:cNvPr>
          <p:cNvSpPr>
            <a:spLocks noGrp="1"/>
          </p:cNvSpPr>
          <p:nvPr>
            <p:ph idx="1"/>
          </p:nvPr>
        </p:nvSpPr>
        <p:spPr>
          <a:xfrm>
            <a:off x="1779429" y="4619134"/>
            <a:ext cx="7853924" cy="2045617"/>
          </a:xfrm>
        </p:spPr>
        <p:txBody>
          <a:bodyPr/>
          <a:lstStyle/>
          <a:p>
            <a:pPr marL="0" indent="0">
              <a:buNone/>
            </a:pPr>
            <a:r>
              <a:rPr lang="en-IN" dirty="0"/>
              <a:t>City-wise delivery distribution is highest in London, Boise, and </a:t>
            </a:r>
            <a:r>
              <a:rPr lang="en-IN" dirty="0" err="1"/>
              <a:t>Cunewalde</a:t>
            </a:r>
            <a:r>
              <a:rPr lang="en-IN" dirty="0"/>
              <a:t>, indicating these locations handle the largest share of deliveries. This suggests strong demand and higher operational activity in these cities compared to others.</a:t>
            </a:r>
          </a:p>
        </p:txBody>
      </p:sp>
      <p:pic>
        <p:nvPicPr>
          <p:cNvPr id="5" name="Picture 4">
            <a:extLst>
              <a:ext uri="{FF2B5EF4-FFF2-40B4-BE49-F238E27FC236}">
                <a16:creationId xmlns:a16="http://schemas.microsoft.com/office/drawing/2014/main" id="{35C6CF74-4291-6F3A-6AE6-E2E551375618}"/>
              </a:ext>
            </a:extLst>
          </p:cNvPr>
          <p:cNvPicPr>
            <a:picLocks noChangeAspect="1"/>
          </p:cNvPicPr>
          <p:nvPr/>
        </p:nvPicPr>
        <p:blipFill>
          <a:blip r:embed="rId2"/>
          <a:stretch>
            <a:fillRect/>
          </a:stretch>
        </p:blipFill>
        <p:spPr>
          <a:xfrm>
            <a:off x="2256121" y="1797107"/>
            <a:ext cx="6020640" cy="2457793"/>
          </a:xfrm>
          <a:prstGeom prst="rect">
            <a:avLst/>
          </a:prstGeom>
        </p:spPr>
      </p:pic>
    </p:spTree>
    <p:extLst>
      <p:ext uri="{BB962C8B-B14F-4D97-AF65-F5344CB8AC3E}">
        <p14:creationId xmlns:p14="http://schemas.microsoft.com/office/powerpoint/2010/main" val="1848974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096746-EA20-AF67-2BB1-7829F1565D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F5E009-D42B-30D6-248D-A179E59C13D1}"/>
              </a:ext>
            </a:extLst>
          </p:cNvPr>
          <p:cNvSpPr>
            <a:spLocks noGrp="1"/>
          </p:cNvSpPr>
          <p:nvPr>
            <p:ph type="title"/>
          </p:nvPr>
        </p:nvSpPr>
        <p:spPr>
          <a:xfrm>
            <a:off x="677334" y="609600"/>
            <a:ext cx="8596668" cy="823274"/>
          </a:xfrm>
        </p:spPr>
        <p:txBody>
          <a:bodyPr/>
          <a:lstStyle/>
          <a:p>
            <a:r>
              <a:rPr lang="en-IN" dirty="0"/>
              <a:t>Summary</a:t>
            </a:r>
          </a:p>
        </p:txBody>
      </p:sp>
      <p:sp>
        <p:nvSpPr>
          <p:cNvPr id="6" name="Content Placeholder 5">
            <a:extLst>
              <a:ext uri="{FF2B5EF4-FFF2-40B4-BE49-F238E27FC236}">
                <a16:creationId xmlns:a16="http://schemas.microsoft.com/office/drawing/2014/main" id="{7C50F3B5-5C60-9F07-B34C-DB07AB4D2254}"/>
              </a:ext>
            </a:extLst>
          </p:cNvPr>
          <p:cNvSpPr>
            <a:spLocks noGrp="1"/>
          </p:cNvSpPr>
          <p:nvPr>
            <p:ph idx="1"/>
          </p:nvPr>
        </p:nvSpPr>
        <p:spPr>
          <a:xfrm>
            <a:off x="1048706" y="1875934"/>
            <a:ext cx="7853924" cy="3459637"/>
          </a:xfrm>
        </p:spPr>
        <p:txBody>
          <a:bodyPr/>
          <a:lstStyle/>
          <a:p>
            <a:r>
              <a:rPr lang="en-IN" dirty="0"/>
              <a:t>Business performance is driven by a few key products and high-value repeat customers, with demand varying across regions. Order trends show steady growth with peaks during closing periods, while logistics performance differs by city and shipper. Supplier diversity supports competitive pricing and product availability.</a:t>
            </a:r>
          </a:p>
          <a:p>
            <a:r>
              <a:rPr lang="en-IN" dirty="0"/>
              <a:t>Focus on strengthening top-performing products, improving retention in low-frequency regions, optimizing shipping efficiency, and balancing inventory to drive overall growth.</a:t>
            </a:r>
          </a:p>
        </p:txBody>
      </p:sp>
    </p:spTree>
    <p:extLst>
      <p:ext uri="{BB962C8B-B14F-4D97-AF65-F5344CB8AC3E}">
        <p14:creationId xmlns:p14="http://schemas.microsoft.com/office/powerpoint/2010/main" val="18356798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7F02C-769B-CF70-044A-D7BA02341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444584-92A5-9EE9-B7DD-E87057CE485B}"/>
              </a:ext>
            </a:extLst>
          </p:cNvPr>
          <p:cNvSpPr>
            <a:spLocks noGrp="1"/>
          </p:cNvSpPr>
          <p:nvPr>
            <p:ph type="title"/>
          </p:nvPr>
        </p:nvSpPr>
        <p:spPr>
          <a:xfrm>
            <a:off x="1008404" y="2400692"/>
            <a:ext cx="8596668" cy="823274"/>
          </a:xfrm>
        </p:spPr>
        <p:txBody>
          <a:bodyPr/>
          <a:lstStyle/>
          <a:p>
            <a:r>
              <a:rPr lang="en-IN" dirty="0"/>
              <a:t>Thank you</a:t>
            </a:r>
          </a:p>
        </p:txBody>
      </p:sp>
    </p:spTree>
    <p:extLst>
      <p:ext uri="{BB962C8B-B14F-4D97-AF65-F5344CB8AC3E}">
        <p14:creationId xmlns:p14="http://schemas.microsoft.com/office/powerpoint/2010/main" val="211542097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232</TotalTime>
  <Words>1327</Words>
  <Application>Microsoft Office PowerPoint</Application>
  <PresentationFormat>Widescreen</PresentationFormat>
  <Paragraphs>56</Paragraphs>
  <Slides>28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Trebuchet MS</vt:lpstr>
      <vt:lpstr>Wingdings 3</vt:lpstr>
      <vt:lpstr>Facet</vt:lpstr>
      <vt:lpstr>PowerPoint Presentation</vt:lpstr>
      <vt:lpstr>Introduction</vt:lpstr>
      <vt:lpstr>Data Cleaning</vt:lpstr>
      <vt:lpstr>ERD(Entity Relationship Diagram)</vt:lpstr>
      <vt:lpstr>High-Value Customers</vt:lpstr>
      <vt:lpstr>Overall Contributions of Products         </vt:lpstr>
      <vt:lpstr>Average Purchase Interval</vt:lpstr>
      <vt:lpstr>Distribution of Employees</vt:lpstr>
      <vt:lpstr>Hire Date Trend</vt:lpstr>
      <vt:lpstr>Supplier Distribution &amp; Pricing</vt:lpstr>
      <vt:lpstr>Multi-Category Suppliers</vt:lpstr>
      <vt:lpstr>Suppliers Distribution</vt:lpstr>
      <vt:lpstr>Customer Distribution</vt:lpstr>
      <vt:lpstr>Customer Orders Trend</vt:lpstr>
      <vt:lpstr>Average Shipping Duration</vt:lpstr>
      <vt:lpstr>Order Volume over Time</vt:lpstr>
      <vt:lpstr>Employee Hierarchy</vt:lpstr>
      <vt:lpstr>Product Summary</vt:lpstr>
      <vt:lpstr>Revenue by Category</vt:lpstr>
      <vt:lpstr>Premium Customers</vt:lpstr>
      <vt:lpstr>Available Inventory Units</vt:lpstr>
      <vt:lpstr>Pending Order Quantity</vt:lpstr>
      <vt:lpstr>Shipper Revenue</vt:lpstr>
      <vt:lpstr>Order Volume by Shipper</vt:lpstr>
      <vt:lpstr>Average Shipping Distribution</vt:lpstr>
      <vt:lpstr>City wise Delivery Duration</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Hari Haran</dc:creator>
  <cp:lastModifiedBy>Hari Haran</cp:lastModifiedBy>
  <cp:revision>4</cp:revision>
  <dcterms:created xsi:type="dcterms:W3CDTF">2026-03-28T16:06:34Z</dcterms:created>
  <dcterms:modified xsi:type="dcterms:W3CDTF">2026-03-28T19:59:07Z</dcterms:modified>
</cp:coreProperties>
</file>